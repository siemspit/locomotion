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326" r:id="rId13"/>
    <p:sldId id="327" r:id="rId14"/>
    <p:sldId id="328" r:id="rId15"/>
    <p:sldId id="269" r:id="rId16"/>
    <p:sldId id="287" r:id="rId17"/>
    <p:sldId id="318" r:id="rId18"/>
    <p:sldId id="319" r:id="rId19"/>
    <p:sldId id="320" r:id="rId20"/>
    <p:sldId id="322" r:id="rId21"/>
    <p:sldId id="321" r:id="rId22"/>
    <p:sldId id="275" r:id="rId23"/>
    <p:sldId id="271" r:id="rId24"/>
    <p:sldId id="273" r:id="rId25"/>
    <p:sldId id="272" r:id="rId26"/>
    <p:sldId id="274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5EE1F-E0F6-E43F-2174-D9B08EB9AE6E}" v="70" dt="2026-05-27T09:24:29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afab565a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afab565a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cd2b94b0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cd2b94b0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9489e1f7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9489e1f7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1f0999c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1f0999c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b2794efb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b2794efb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de7caed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de7caed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9489e1f7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9489e1f7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A7C2729E-6378-479A-07B0-79AB3F7F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9489e1f78_0_43:notes">
            <a:extLst>
              <a:ext uri="{FF2B5EF4-FFF2-40B4-BE49-F238E27FC236}">
                <a16:creationId xmlns:a16="http://schemas.microsoft.com/office/drawing/2014/main" id="{78A9057C-6822-D270-5636-D63E6BCF7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9489e1f78_0_43:notes">
            <a:extLst>
              <a:ext uri="{FF2B5EF4-FFF2-40B4-BE49-F238E27FC236}">
                <a16:creationId xmlns:a16="http://schemas.microsoft.com/office/drawing/2014/main" id="{2FAD5769-E9C9-351E-27BD-33268BFF5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119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AE3ABB3A-C1D7-A6FA-D52D-DEC7FFCA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9489e1f78_0_43:notes">
            <a:extLst>
              <a:ext uri="{FF2B5EF4-FFF2-40B4-BE49-F238E27FC236}">
                <a16:creationId xmlns:a16="http://schemas.microsoft.com/office/drawing/2014/main" id="{44841AE1-2A70-BE4E-D7A3-FD03F3513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9489e1f78_0_43:notes">
            <a:extLst>
              <a:ext uri="{FF2B5EF4-FFF2-40B4-BE49-F238E27FC236}">
                <a16:creationId xmlns:a16="http://schemas.microsoft.com/office/drawing/2014/main" id="{A46994A4-2F9C-1E32-8617-070A85196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262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A6D1161-237C-70A5-43E4-3852ACC6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9489e1f78_0_43:notes">
            <a:extLst>
              <a:ext uri="{FF2B5EF4-FFF2-40B4-BE49-F238E27FC236}">
                <a16:creationId xmlns:a16="http://schemas.microsoft.com/office/drawing/2014/main" id="{47793871-33F0-9914-4198-40890C2A0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9489e1f78_0_43:notes">
            <a:extLst>
              <a:ext uri="{FF2B5EF4-FFF2-40B4-BE49-F238E27FC236}">
                <a16:creationId xmlns:a16="http://schemas.microsoft.com/office/drawing/2014/main" id="{246E6460-17E1-9F6A-7A47-17A08D3C1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637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4a478f95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4a478f95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957cfa2d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957cfa2d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957cfa2d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957cfa2d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270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957cfa2d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957cfa2d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678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957cfa2d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957cfa2d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361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957cfa2d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957cfa2d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804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957cfa2d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957cfa2d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444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494dcfdde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494dcfdde7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0fe7984d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0fe7984d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49489e1f7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49489e1f7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49489e1f7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49489e1f7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494dcfdde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494dcfdde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49489e1f7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49489e1f7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a2aaccc3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4a2aaccc3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9489e1f7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49489e1f7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94dcfdde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494dcfdde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b2794efbd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b2794efbd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494dcfdde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494dcfdde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94dcfdde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494dcfdde7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494dcfdde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494dcfdde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EFEFEF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○"/>
              <a:defRPr>
                <a:solidFill>
                  <a:srgbClr val="D9D9D9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●"/>
              <a:defRPr>
                <a:solidFill>
                  <a:srgbClr val="D9D9D9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○"/>
              <a:defRPr>
                <a:solidFill>
                  <a:srgbClr val="D9D9D9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●"/>
              <a:defRPr>
                <a:solidFill>
                  <a:srgbClr val="D9D9D9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○"/>
              <a:defRPr>
                <a:solidFill>
                  <a:srgbClr val="D9D9D9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EFEFE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solidFill>
            <a:srgbClr val="000000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 sz="1600">
                <a:solidFill>
                  <a:srgbClr val="D9D9D9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  <a:defRPr>
                <a:solidFill>
                  <a:srgbClr val="666666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○"/>
              <a:defRPr>
                <a:solidFill>
                  <a:srgbClr val="666666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■"/>
              <a:defRPr>
                <a:solidFill>
                  <a:srgbClr val="666666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  <a:defRPr>
                <a:solidFill>
                  <a:srgbClr val="666666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○"/>
              <a:defRPr>
                <a:solidFill>
                  <a:srgbClr val="666666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■"/>
              <a:defRPr>
                <a:solidFill>
                  <a:srgbClr val="666666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  <a:defRPr>
                <a:solidFill>
                  <a:srgbClr val="666666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○"/>
              <a:defRPr>
                <a:solidFill>
                  <a:srgbClr val="666666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■"/>
              <a:defRPr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00000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235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○"/>
              <a:defRPr>
                <a:solidFill>
                  <a:srgbClr val="D9D9D9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●"/>
              <a:defRPr>
                <a:solidFill>
                  <a:srgbClr val="D9D9D9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○"/>
              <a:defRPr>
                <a:solidFill>
                  <a:srgbClr val="D9D9D9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●"/>
              <a:defRPr>
                <a:solidFill>
                  <a:srgbClr val="D9D9D9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○"/>
              <a:defRPr>
                <a:solidFill>
                  <a:srgbClr val="D9D9D9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.a.dijksman@uva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hyperlink" Target="mailto:c.nellist@uva.n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j.a.dijksman@uva.n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hyperlink" Target="mailto:clara.nellist@cern.ch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82525"/>
            <a:ext cx="52815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Supervisor meeting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</a:rPr>
              <a:t>1st Year Project 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UvA/VU  BSc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Physics &amp; Astronomy 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2605235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J.A. Dijksman &amp; C. Nellist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j.a.dijksman@uva.nl</a:t>
            </a:r>
            <a:r>
              <a:rPr lang="en-GB"/>
              <a:t> &amp;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c.nellist@uva.nl</a:t>
            </a:r>
            <a:r>
              <a:rPr lang="en-GB"/>
              <a:t> 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 r="40259"/>
          <a:stretch/>
        </p:blipFill>
        <p:spPr>
          <a:xfrm>
            <a:off x="5893578" y="221350"/>
            <a:ext cx="3061696" cy="7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3574" y="1047100"/>
            <a:ext cx="2793798" cy="83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985775" y="-617100"/>
            <a:ext cx="340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77B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8246700" cy="34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For being a Project supervisor</a:t>
            </a:r>
            <a:endParaRPr sz="2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</a:pPr>
            <a:r>
              <a:rPr lang="en-GB" sz="2000">
                <a:solidFill>
                  <a:schemeClr val="lt2"/>
                </a:solidFill>
              </a:rPr>
              <a:t>Supervision done by </a:t>
            </a:r>
            <a:r>
              <a:rPr lang="en-GB" sz="2000">
                <a:solidFill>
                  <a:srgbClr val="FF0000"/>
                </a:solidFill>
              </a:rPr>
              <a:t>research group staff/PhD/Postdocs = you!</a:t>
            </a:r>
            <a:endParaRPr sz="2000">
              <a:solidFill>
                <a:srgbClr val="FF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Clara &amp; Joshua coordinate. </a:t>
            </a:r>
            <a:endParaRPr sz="1600"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-GB" sz="1400">
                <a:solidFill>
                  <a:schemeClr val="lt2"/>
                </a:solidFill>
              </a:rPr>
              <a:t>Handle student organization and communication</a:t>
            </a:r>
            <a:endParaRPr sz="1400"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-GB" sz="1400">
                <a:solidFill>
                  <a:schemeClr val="lt2"/>
                </a:solidFill>
              </a:rPr>
              <a:t>Point of contact for scientific groups</a:t>
            </a:r>
            <a:endParaRPr sz="1400"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</a:pPr>
            <a:r>
              <a:rPr lang="en-GB" sz="1400">
                <a:solidFill>
                  <a:schemeClr val="lt2"/>
                </a:solidFill>
              </a:rPr>
              <a:t>In charge of teaching / assessment strategy</a:t>
            </a:r>
            <a:endParaRPr sz="1400">
              <a:solidFill>
                <a:schemeClr val="lt2"/>
              </a:solidFill>
            </a:endParaRPr>
          </a:p>
          <a:p>
            <a:pPr lvl="1" indent="-317500">
              <a:buClr>
                <a:schemeClr val="lt2"/>
              </a:buClr>
              <a:buSzPts val="1400"/>
            </a:pPr>
            <a:r>
              <a:rPr lang="en-GB" sz="1400">
                <a:solidFill>
                  <a:schemeClr val="lt2"/>
                </a:solidFill>
              </a:rPr>
              <a:t>We alternate the main contact. This year it's </a:t>
            </a:r>
            <a:r>
              <a:rPr lang="en-GB" sz="1400" b="1">
                <a:solidFill>
                  <a:schemeClr val="lt2"/>
                </a:solidFill>
              </a:rPr>
              <a:t>Clara</a:t>
            </a:r>
            <a:r>
              <a:rPr lang="en-GB" sz="1400">
                <a:solidFill>
                  <a:schemeClr val="lt2"/>
                </a:solidFill>
              </a:rPr>
              <a:t>.</a:t>
            </a:r>
            <a:endParaRPr sz="1600">
              <a:solidFill>
                <a:schemeClr val="lt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contact established?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4260529" cy="3519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666666"/>
              </a:buClr>
            </a:pPr>
            <a:r>
              <a:rPr lang="en-GB" sz="1600">
                <a:solidFill>
                  <a:schemeClr val="lt2"/>
                </a:solidFill>
              </a:rPr>
              <a:t>You can proactively reach out to students via email. These have been sent to you.</a:t>
            </a:r>
            <a:endParaRPr lang="en-US" sz="1600">
              <a:solidFill>
                <a:schemeClr val="lt2"/>
              </a:solidFill>
            </a:endParaRPr>
          </a:p>
          <a:p>
            <a:pPr indent="-330200">
              <a:lnSpc>
                <a:spcPct val="114999"/>
              </a:lnSpc>
              <a:buClr>
                <a:schemeClr val="lt2"/>
              </a:buClr>
              <a:buSzPts val="1600"/>
            </a:pPr>
            <a:r>
              <a:rPr lang="en-GB" sz="1600">
                <a:solidFill>
                  <a:schemeClr val="lt2"/>
                </a:solidFill>
              </a:rPr>
              <a:t>The students have been added in groups to Canvas.</a:t>
            </a:r>
          </a:p>
          <a:p>
            <a:pPr lvl="1">
              <a:lnSpc>
                <a:spcPct val="114999"/>
              </a:lnSpc>
              <a:buClr>
                <a:schemeClr val="lt2"/>
              </a:buClr>
              <a:buSzPts val="1600"/>
            </a:pPr>
            <a:r>
              <a:rPr lang="en-GB" sz="1400">
                <a:solidFill>
                  <a:schemeClr val="lt2"/>
                </a:solidFill>
              </a:rPr>
              <a:t>We will add your contact information on Canvas.</a:t>
            </a:r>
          </a:p>
          <a:p>
            <a:pPr lvl="1">
              <a:lnSpc>
                <a:spcPct val="114999"/>
              </a:lnSpc>
              <a:buClr>
                <a:schemeClr val="lt2"/>
              </a:buClr>
              <a:buSzPts val="1600"/>
            </a:pPr>
            <a:r>
              <a:rPr lang="en-GB" sz="1400">
                <a:solidFill>
                  <a:schemeClr val="lt2"/>
                </a:solidFill>
              </a:rPr>
              <a:t>We can directly add you to the group if you wish to use this as a way to communicate with your group(s).</a:t>
            </a:r>
            <a:endParaRPr lang="en-GB">
              <a:solidFill>
                <a:schemeClr val="lt2"/>
              </a:solidFill>
            </a:endParaRPr>
          </a:p>
          <a:p>
            <a:pPr indent="-330200">
              <a:buClr>
                <a:schemeClr val="lt2"/>
              </a:buClr>
              <a:buSzPts val="1600"/>
            </a:pPr>
            <a:r>
              <a:rPr lang="en-GB" sz="1600">
                <a:solidFill>
                  <a:schemeClr val="lt2"/>
                </a:solidFill>
              </a:rPr>
              <a:t>They are available from June 2 onwards</a:t>
            </a:r>
            <a:endParaRPr sz="1600">
              <a:solidFill>
                <a:schemeClr val="lt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109" y="1332784"/>
            <a:ext cx="3714074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Goals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8246700" cy="34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Make </a:t>
            </a:r>
            <a:r>
              <a:rPr lang="en-GB" sz="1600">
                <a:solidFill>
                  <a:srgbClr val="FF0000"/>
                </a:solidFill>
              </a:rPr>
              <a:t>experimental</a:t>
            </a:r>
            <a:r>
              <a:rPr lang="en-GB" sz="1600">
                <a:solidFill>
                  <a:schemeClr val="lt2"/>
                </a:solidFill>
              </a:rPr>
              <a:t> research activities in Amsterdam more visible to students</a:t>
            </a: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Better align astronomy &amp; physics practicum training methods</a:t>
            </a: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Integrate academic skills training (AVT) with practicum </a:t>
            </a: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Stimulate “ownership” of projects while working in a team</a:t>
            </a:r>
            <a:endParaRPr sz="160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775" y="2398950"/>
            <a:ext cx="2535851" cy="253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students going to do in your Project?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8246700" cy="34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Possible activities</a:t>
            </a:r>
            <a:endParaRPr sz="2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600">
                <a:solidFill>
                  <a:schemeClr val="lt2"/>
                </a:solidFill>
              </a:rPr>
              <a:t>Confront the students with a simple experiment and let them describe/rationalize observations.</a:t>
            </a:r>
            <a:endParaRPr sz="1600">
              <a:solidFill>
                <a:schemeClr val="lt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600">
                <a:solidFill>
                  <a:schemeClr val="lt2"/>
                </a:solidFill>
              </a:rPr>
              <a:t>Repeat experiment from a PhD student/postdoc at slightly different settings</a:t>
            </a:r>
            <a:endParaRPr sz="1600">
              <a:solidFill>
                <a:schemeClr val="lt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600">
                <a:solidFill>
                  <a:schemeClr val="lt2"/>
                </a:solidFill>
              </a:rPr>
              <a:t>Perform data analysis on a (new) data set with (new) code and perform some systematic study</a:t>
            </a:r>
            <a:endParaRPr sz="1600">
              <a:solidFill>
                <a:schemeClr val="lt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600">
                <a:solidFill>
                  <a:schemeClr val="lt2"/>
                </a:solidFill>
              </a:rPr>
              <a:t>Build a necessary component in a slightly different way</a:t>
            </a:r>
            <a:endParaRPr sz="1600">
              <a:solidFill>
                <a:schemeClr val="lt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600">
                <a:solidFill>
                  <a:schemeClr val="lt2"/>
                </a:solidFill>
              </a:rPr>
              <a:t>Prepare a sample in a different way (if sample prep is reasonably involved)</a:t>
            </a:r>
            <a:endParaRPr sz="16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In all these tasks, the ideas is to </a:t>
            </a:r>
            <a:r>
              <a:rPr lang="en-GB" sz="1600">
                <a:solidFill>
                  <a:srgbClr val="FF0000"/>
                </a:solidFill>
              </a:rPr>
              <a:t>spark creativity, curiosity, ownership</a:t>
            </a:r>
            <a:r>
              <a:rPr lang="en-GB" sz="1600">
                <a:solidFill>
                  <a:schemeClr val="lt2"/>
                </a:solidFill>
              </a:rPr>
              <a:t>. </a:t>
            </a:r>
            <a:endParaRPr sz="1600">
              <a:solidFill>
                <a:schemeClr val="lt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knowledge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7931100" cy="34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(AVT  - </a:t>
            </a:r>
            <a:r>
              <a:rPr lang="en-GB" sz="1200" err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academische</a:t>
            </a:r>
            <a:r>
              <a:rPr lang="en-GB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GB" sz="1200" err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vaardigheden</a:t>
            </a:r>
            <a:r>
              <a:rPr lang="en-GB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training - Joëlle </a:t>
            </a:r>
            <a:r>
              <a:rPr lang="en-GB" sz="1200" err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Kessels</a:t>
            </a:r>
            <a:r>
              <a:rPr lang="en-GB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/ </a:t>
            </a:r>
            <a:r>
              <a:rPr lang="en-GB" sz="1200" err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Chaokang</a:t>
            </a:r>
            <a:r>
              <a:rPr lang="en-GB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Tai / Donna </a:t>
            </a:r>
            <a:r>
              <a:rPr lang="en-GB" sz="1200" err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Sandtke</a:t>
            </a:r>
            <a:r>
              <a:rPr lang="en-GB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12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Merriweather"/>
                <a:ea typeface="Merriweather"/>
                <a:cs typeface="Merriweather"/>
                <a:sym typeface="Merriweather"/>
              </a:rPr>
              <a:t>Build on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P1: Latex writing / Overleaf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P2: Argumentation skills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P3: Presentation skills (duo)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P4: Poster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Merriweather"/>
                <a:ea typeface="Merriweather"/>
                <a:cs typeface="Merriweather"/>
                <a:sym typeface="Merriweather"/>
              </a:rPr>
              <a:t>Integrate with: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</a:rPr>
              <a:t>P5: Literature search - based on selection of topic for P6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Merriweather"/>
                <a:ea typeface="Merriweather"/>
                <a:cs typeface="Merriweather"/>
                <a:sym typeface="Merriweather"/>
              </a:rPr>
              <a:t>Add to: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-GB" sz="1600">
                <a:solidFill>
                  <a:srgbClr val="FF0000"/>
                </a:solidFill>
                <a:highlight>
                  <a:schemeClr val="lt1"/>
                </a:highlight>
              </a:rPr>
              <a:t>P6: Team work skills - provide training for entire group</a:t>
            </a:r>
            <a:endParaRPr sz="16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350" y="1763950"/>
            <a:ext cx="2923949" cy="292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5131800" cy="3248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Mid April: student teams assigned</a:t>
            </a: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End April: students read literature</a:t>
            </a:r>
            <a:endParaRPr sz="1600">
              <a:solidFill>
                <a:schemeClr val="lt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Students do research from June 2 - 19</a:t>
            </a:r>
            <a:endParaRPr sz="1600">
              <a:solidFill>
                <a:schemeClr val="lt2"/>
              </a:solidFill>
            </a:endParaRPr>
          </a:p>
          <a:p>
            <a:pPr indent="-330200">
              <a:buClr>
                <a:schemeClr val="lt2"/>
              </a:buClr>
              <a:buSzPts val="1600"/>
            </a:pPr>
            <a:r>
              <a:rPr lang="en-GB" sz="1600">
                <a:solidFill>
                  <a:schemeClr val="lt2"/>
                </a:solidFill>
              </a:rPr>
              <a:t>Poster presentations: </a:t>
            </a:r>
            <a:r>
              <a:rPr lang="en-GB" sz="1600">
                <a:solidFill>
                  <a:srgbClr val="FF0000"/>
                </a:solidFill>
              </a:rPr>
              <a:t>Thu June 25</a:t>
            </a:r>
            <a:r>
              <a:rPr lang="en-GB" sz="1600">
                <a:solidFill>
                  <a:schemeClr val="lt2"/>
                </a:solidFill>
              </a:rPr>
              <a:t> </a:t>
            </a: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From 2-24 is ~17 days, of which:</a:t>
            </a:r>
            <a:endParaRPr sz="1600">
              <a:solidFill>
                <a:schemeClr val="lt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Research: ~ </a:t>
            </a:r>
            <a:r>
              <a:rPr lang="en-GB" sz="1600">
                <a:solidFill>
                  <a:srgbClr val="FF0000"/>
                </a:solidFill>
              </a:rPr>
              <a:t>10 days full time</a:t>
            </a:r>
            <a:endParaRPr sz="1600">
              <a:solidFill>
                <a:srgbClr val="FF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Poster + animation ~ 5 days full time</a:t>
            </a:r>
            <a:endParaRPr sz="1600">
              <a:solidFill>
                <a:schemeClr val="lt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rgbClr val="000000"/>
              </a:solidFill>
            </a:endParaRPr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575" y="1360875"/>
            <a:ext cx="3537759" cy="3537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 in June</a:t>
            </a: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130" name="Google Shape;130;p21"/>
          <p:cNvSpPr txBox="1"/>
          <p:nvPr/>
        </p:nvSpPr>
        <p:spPr>
          <a:xfrm rot="16200000">
            <a:off x="-266511" y="129094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Week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30;p21">
            <a:extLst>
              <a:ext uri="{FF2B5EF4-FFF2-40B4-BE49-F238E27FC236}">
                <a16:creationId xmlns:a16="http://schemas.microsoft.com/office/drawing/2014/main" id="{A1B363BC-F1F3-A8EB-802C-31F04DB4BC02}"/>
              </a:ext>
            </a:extLst>
          </p:cNvPr>
          <p:cNvSpPr txBox="1"/>
          <p:nvPr/>
        </p:nvSpPr>
        <p:spPr>
          <a:xfrm>
            <a:off x="2376677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Tuesday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Google Shape;130;p21">
            <a:extLst>
              <a:ext uri="{FF2B5EF4-FFF2-40B4-BE49-F238E27FC236}">
                <a16:creationId xmlns:a16="http://schemas.microsoft.com/office/drawing/2014/main" id="{3FF9FDCB-49A1-5974-90E5-9EF5DB57336F}"/>
              </a:ext>
            </a:extLst>
          </p:cNvPr>
          <p:cNvSpPr txBox="1"/>
          <p:nvPr/>
        </p:nvSpPr>
        <p:spPr>
          <a:xfrm>
            <a:off x="747009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Monday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Google Shape;130;p21">
            <a:extLst>
              <a:ext uri="{FF2B5EF4-FFF2-40B4-BE49-F238E27FC236}">
                <a16:creationId xmlns:a16="http://schemas.microsoft.com/office/drawing/2014/main" id="{6AF61FF9-12E3-4F19-071C-1496252F373B}"/>
              </a:ext>
            </a:extLst>
          </p:cNvPr>
          <p:cNvSpPr txBox="1"/>
          <p:nvPr/>
        </p:nvSpPr>
        <p:spPr>
          <a:xfrm>
            <a:off x="4015275" y="171232"/>
            <a:ext cx="116907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Wednesday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Google Shape;130;p21">
            <a:extLst>
              <a:ext uri="{FF2B5EF4-FFF2-40B4-BE49-F238E27FC236}">
                <a16:creationId xmlns:a16="http://schemas.microsoft.com/office/drawing/2014/main" id="{DDC113ED-543A-9321-1B3E-813001210DF1}"/>
              </a:ext>
            </a:extLst>
          </p:cNvPr>
          <p:cNvSpPr txBox="1"/>
          <p:nvPr/>
        </p:nvSpPr>
        <p:spPr>
          <a:xfrm>
            <a:off x="5627083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Thursday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Google Shape;130;p21">
            <a:extLst>
              <a:ext uri="{FF2B5EF4-FFF2-40B4-BE49-F238E27FC236}">
                <a16:creationId xmlns:a16="http://schemas.microsoft.com/office/drawing/2014/main" id="{66AEE944-7F9D-FAA8-C87F-48A6B132DC2D}"/>
              </a:ext>
            </a:extLst>
          </p:cNvPr>
          <p:cNvSpPr txBox="1"/>
          <p:nvPr/>
        </p:nvSpPr>
        <p:spPr>
          <a:xfrm>
            <a:off x="7350513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Friday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5109F7-6A2D-B803-FBCA-03DD4411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6" y="1927395"/>
            <a:ext cx="9144000" cy="2735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D364F1C1-E3B5-F9DB-7627-8662D934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>
            <a:extLst>
              <a:ext uri="{FF2B5EF4-FFF2-40B4-BE49-F238E27FC236}">
                <a16:creationId xmlns:a16="http://schemas.microsoft.com/office/drawing/2014/main" id="{F9B70AEA-FB71-B4A7-946F-A5B42A99A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 in June</a:t>
            </a:r>
            <a:endParaRPr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5763AB96-95F0-C92D-E9C0-FA6045EFF8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130" name="Google Shape;130;p21">
            <a:extLst>
              <a:ext uri="{FF2B5EF4-FFF2-40B4-BE49-F238E27FC236}">
                <a16:creationId xmlns:a16="http://schemas.microsoft.com/office/drawing/2014/main" id="{63E64E10-33D5-CDBA-E662-048B9A59644D}"/>
              </a:ext>
            </a:extLst>
          </p:cNvPr>
          <p:cNvSpPr txBox="1"/>
          <p:nvPr/>
        </p:nvSpPr>
        <p:spPr>
          <a:xfrm rot="16200000">
            <a:off x="-266511" y="129094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Week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30;p21">
            <a:extLst>
              <a:ext uri="{FF2B5EF4-FFF2-40B4-BE49-F238E27FC236}">
                <a16:creationId xmlns:a16="http://schemas.microsoft.com/office/drawing/2014/main" id="{10AE22BC-184F-35AA-0FF5-5C2F8AD1F4C6}"/>
              </a:ext>
            </a:extLst>
          </p:cNvPr>
          <p:cNvSpPr txBox="1"/>
          <p:nvPr/>
        </p:nvSpPr>
        <p:spPr>
          <a:xfrm>
            <a:off x="2376677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Tuesday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Google Shape;130;p21">
            <a:extLst>
              <a:ext uri="{FF2B5EF4-FFF2-40B4-BE49-F238E27FC236}">
                <a16:creationId xmlns:a16="http://schemas.microsoft.com/office/drawing/2014/main" id="{6C1F2EC2-48DB-B02E-19DB-7B0016EAB605}"/>
              </a:ext>
            </a:extLst>
          </p:cNvPr>
          <p:cNvSpPr txBox="1"/>
          <p:nvPr/>
        </p:nvSpPr>
        <p:spPr>
          <a:xfrm>
            <a:off x="747009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Monday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Google Shape;130;p21">
            <a:extLst>
              <a:ext uri="{FF2B5EF4-FFF2-40B4-BE49-F238E27FC236}">
                <a16:creationId xmlns:a16="http://schemas.microsoft.com/office/drawing/2014/main" id="{F325BC93-792B-A417-D600-231A2CC5E91D}"/>
              </a:ext>
            </a:extLst>
          </p:cNvPr>
          <p:cNvSpPr txBox="1"/>
          <p:nvPr/>
        </p:nvSpPr>
        <p:spPr>
          <a:xfrm>
            <a:off x="4015275" y="171232"/>
            <a:ext cx="116907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Wednesday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Google Shape;130;p21">
            <a:extLst>
              <a:ext uri="{FF2B5EF4-FFF2-40B4-BE49-F238E27FC236}">
                <a16:creationId xmlns:a16="http://schemas.microsoft.com/office/drawing/2014/main" id="{F812607D-564D-F5FF-6432-5A66655F10C7}"/>
              </a:ext>
            </a:extLst>
          </p:cNvPr>
          <p:cNvSpPr txBox="1"/>
          <p:nvPr/>
        </p:nvSpPr>
        <p:spPr>
          <a:xfrm>
            <a:off x="5627083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Thursday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Google Shape;130;p21">
            <a:extLst>
              <a:ext uri="{FF2B5EF4-FFF2-40B4-BE49-F238E27FC236}">
                <a16:creationId xmlns:a16="http://schemas.microsoft.com/office/drawing/2014/main" id="{9BB91FF4-00F3-9DD2-87C1-C57578DC6FB2}"/>
              </a:ext>
            </a:extLst>
          </p:cNvPr>
          <p:cNvSpPr txBox="1"/>
          <p:nvPr/>
        </p:nvSpPr>
        <p:spPr>
          <a:xfrm>
            <a:off x="7350513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Friday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34629F-B6D2-9212-C795-3C7C9EEB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6" y="1927395"/>
            <a:ext cx="9144000" cy="2735445"/>
          </a:xfrm>
          <a:prstGeom prst="rect">
            <a:avLst/>
          </a:prstGeom>
        </p:spPr>
      </p:pic>
      <p:sp>
        <p:nvSpPr>
          <p:cNvPr id="9" name="Google Shape;140;p22">
            <a:extLst>
              <a:ext uri="{FF2B5EF4-FFF2-40B4-BE49-F238E27FC236}">
                <a16:creationId xmlns:a16="http://schemas.microsoft.com/office/drawing/2014/main" id="{89B6D911-D9EF-F1EF-166F-B5DD22125E64}"/>
              </a:ext>
            </a:extLst>
          </p:cNvPr>
          <p:cNvSpPr txBox="1">
            <a:spLocks noGrp="1"/>
          </p:cNvSpPr>
          <p:nvPr/>
        </p:nvSpPr>
        <p:spPr>
          <a:xfrm>
            <a:off x="6397294" y="1211298"/>
            <a:ext cx="1912565" cy="748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Yellow space is all available for you</a:t>
            </a:r>
            <a:endParaRPr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99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EAEECAC-5A8B-B758-6B65-EAFF4F419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>
            <a:extLst>
              <a:ext uri="{FF2B5EF4-FFF2-40B4-BE49-F238E27FC236}">
                <a16:creationId xmlns:a16="http://schemas.microsoft.com/office/drawing/2014/main" id="{4A2300FC-79EF-93F3-8338-B20D93F5F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 in June</a:t>
            </a:r>
            <a:endParaRPr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47D8BBDE-D0B2-E487-A846-3149AA027D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130" name="Google Shape;130;p21">
            <a:extLst>
              <a:ext uri="{FF2B5EF4-FFF2-40B4-BE49-F238E27FC236}">
                <a16:creationId xmlns:a16="http://schemas.microsoft.com/office/drawing/2014/main" id="{C6858E1E-6A4C-39F8-A28E-801A8998C3DA}"/>
              </a:ext>
            </a:extLst>
          </p:cNvPr>
          <p:cNvSpPr txBox="1"/>
          <p:nvPr/>
        </p:nvSpPr>
        <p:spPr>
          <a:xfrm rot="16200000">
            <a:off x="-266511" y="129094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Week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30;p21">
            <a:extLst>
              <a:ext uri="{FF2B5EF4-FFF2-40B4-BE49-F238E27FC236}">
                <a16:creationId xmlns:a16="http://schemas.microsoft.com/office/drawing/2014/main" id="{8F482BDD-1D2E-A9DC-FD55-0028FF0F92AE}"/>
              </a:ext>
            </a:extLst>
          </p:cNvPr>
          <p:cNvSpPr txBox="1"/>
          <p:nvPr/>
        </p:nvSpPr>
        <p:spPr>
          <a:xfrm>
            <a:off x="2376677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Tuesday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Google Shape;130;p21">
            <a:extLst>
              <a:ext uri="{FF2B5EF4-FFF2-40B4-BE49-F238E27FC236}">
                <a16:creationId xmlns:a16="http://schemas.microsoft.com/office/drawing/2014/main" id="{3CE067A2-EA61-96F7-AB57-9D703BA73CD5}"/>
              </a:ext>
            </a:extLst>
          </p:cNvPr>
          <p:cNvSpPr txBox="1"/>
          <p:nvPr/>
        </p:nvSpPr>
        <p:spPr>
          <a:xfrm>
            <a:off x="747009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Monday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Google Shape;130;p21">
            <a:extLst>
              <a:ext uri="{FF2B5EF4-FFF2-40B4-BE49-F238E27FC236}">
                <a16:creationId xmlns:a16="http://schemas.microsoft.com/office/drawing/2014/main" id="{0E0A729D-D082-5F9B-7BE0-59BDE202FC57}"/>
              </a:ext>
            </a:extLst>
          </p:cNvPr>
          <p:cNvSpPr txBox="1"/>
          <p:nvPr/>
        </p:nvSpPr>
        <p:spPr>
          <a:xfrm>
            <a:off x="4015275" y="171232"/>
            <a:ext cx="116907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Wednesday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Google Shape;130;p21">
            <a:extLst>
              <a:ext uri="{FF2B5EF4-FFF2-40B4-BE49-F238E27FC236}">
                <a16:creationId xmlns:a16="http://schemas.microsoft.com/office/drawing/2014/main" id="{3963A3C6-EE32-E44C-34DA-7C7EF46D9ED7}"/>
              </a:ext>
            </a:extLst>
          </p:cNvPr>
          <p:cNvSpPr txBox="1"/>
          <p:nvPr/>
        </p:nvSpPr>
        <p:spPr>
          <a:xfrm>
            <a:off x="5627083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Thursday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Google Shape;130;p21">
            <a:extLst>
              <a:ext uri="{FF2B5EF4-FFF2-40B4-BE49-F238E27FC236}">
                <a16:creationId xmlns:a16="http://schemas.microsoft.com/office/drawing/2014/main" id="{CF99925D-3052-A6E0-338E-A93BE0FD3272}"/>
              </a:ext>
            </a:extLst>
          </p:cNvPr>
          <p:cNvSpPr txBox="1"/>
          <p:nvPr/>
        </p:nvSpPr>
        <p:spPr>
          <a:xfrm>
            <a:off x="7350513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Friday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4118B9-EE6C-6122-19E6-FC52AD411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6" y="1927395"/>
            <a:ext cx="9144000" cy="2735445"/>
          </a:xfrm>
          <a:prstGeom prst="rect">
            <a:avLst/>
          </a:prstGeom>
        </p:spPr>
      </p:pic>
      <p:sp>
        <p:nvSpPr>
          <p:cNvPr id="10" name="Google Shape;150;p23">
            <a:extLst>
              <a:ext uri="{FF2B5EF4-FFF2-40B4-BE49-F238E27FC236}">
                <a16:creationId xmlns:a16="http://schemas.microsoft.com/office/drawing/2014/main" id="{C6D583D7-58CB-E530-C31F-F0CA7E2CD431}"/>
              </a:ext>
            </a:extLst>
          </p:cNvPr>
          <p:cNvSpPr/>
          <p:nvPr/>
        </p:nvSpPr>
        <p:spPr>
          <a:xfrm>
            <a:off x="3887695" y="1926334"/>
            <a:ext cx="1690956" cy="464188"/>
          </a:xfrm>
          <a:prstGeom prst="flowChartAlternateProcess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50;p23">
            <a:extLst>
              <a:ext uri="{FF2B5EF4-FFF2-40B4-BE49-F238E27FC236}">
                <a16:creationId xmlns:a16="http://schemas.microsoft.com/office/drawing/2014/main" id="{695CD2E8-A4D2-8973-961E-13889883547D}"/>
              </a:ext>
            </a:extLst>
          </p:cNvPr>
          <p:cNvSpPr/>
          <p:nvPr/>
        </p:nvSpPr>
        <p:spPr>
          <a:xfrm>
            <a:off x="3887695" y="2733627"/>
            <a:ext cx="1690956" cy="464188"/>
          </a:xfrm>
          <a:prstGeom prst="flowChartAlternateProcess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50;p23">
            <a:extLst>
              <a:ext uri="{FF2B5EF4-FFF2-40B4-BE49-F238E27FC236}">
                <a16:creationId xmlns:a16="http://schemas.microsoft.com/office/drawing/2014/main" id="{6E5FC259-ED7B-80FB-388D-C474EC697400}"/>
              </a:ext>
            </a:extLst>
          </p:cNvPr>
          <p:cNvSpPr/>
          <p:nvPr/>
        </p:nvSpPr>
        <p:spPr>
          <a:xfrm>
            <a:off x="3887695" y="3449002"/>
            <a:ext cx="1690956" cy="464188"/>
          </a:xfrm>
          <a:prstGeom prst="flowChartAlternateProcess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50;p23">
            <a:extLst>
              <a:ext uri="{FF2B5EF4-FFF2-40B4-BE49-F238E27FC236}">
                <a16:creationId xmlns:a16="http://schemas.microsoft.com/office/drawing/2014/main" id="{93BEAD41-86E9-78CC-1AE8-DD0B1DAAA4A9}"/>
              </a:ext>
            </a:extLst>
          </p:cNvPr>
          <p:cNvSpPr/>
          <p:nvPr/>
        </p:nvSpPr>
        <p:spPr>
          <a:xfrm>
            <a:off x="3887695" y="4168372"/>
            <a:ext cx="1690956" cy="464188"/>
          </a:xfrm>
          <a:prstGeom prst="flowChartAlternateProcess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52;p23">
            <a:extLst>
              <a:ext uri="{FF2B5EF4-FFF2-40B4-BE49-F238E27FC236}">
                <a16:creationId xmlns:a16="http://schemas.microsoft.com/office/drawing/2014/main" id="{15E187B6-0ADD-5F9B-75CD-6C6C89BA6A26}"/>
              </a:ext>
            </a:extLst>
          </p:cNvPr>
          <p:cNvSpPr txBox="1">
            <a:spLocks/>
          </p:cNvSpPr>
          <p:nvPr/>
        </p:nvSpPr>
        <p:spPr>
          <a:xfrm>
            <a:off x="5461967" y="1195882"/>
            <a:ext cx="4466492" cy="100542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30200">
              <a:buClr>
                <a:srgbClr val="000000"/>
              </a:buClr>
              <a:buSzPts val="1600"/>
            </a:pPr>
            <a:r>
              <a:rPr lang="en-GB" sz="1200">
                <a:solidFill>
                  <a:srgbClr val="000000"/>
                </a:solidFill>
              </a:rPr>
              <a:t>Walk-in support session</a:t>
            </a:r>
          </a:p>
          <a:p>
            <a:pPr indent="-330200">
              <a:buClr>
                <a:srgbClr val="000000"/>
              </a:buClr>
              <a:buSzPts val="1600"/>
            </a:pPr>
            <a:r>
              <a:rPr lang="en-GB" sz="1200" err="1">
                <a:solidFill>
                  <a:srgbClr val="000000"/>
                </a:solidFill>
              </a:rPr>
              <a:t>UvA</a:t>
            </a:r>
            <a:r>
              <a:rPr lang="en-GB" sz="1200">
                <a:solidFill>
                  <a:srgbClr val="000000"/>
                </a:solidFill>
              </a:rPr>
              <a:t>/VU locations</a:t>
            </a:r>
          </a:p>
          <a:p>
            <a:pPr indent="-330200">
              <a:buClr>
                <a:srgbClr val="000000"/>
              </a:buClr>
              <a:buSzPts val="1600"/>
            </a:pPr>
            <a:r>
              <a:rPr lang="en-GB" sz="1200">
                <a:solidFill>
                  <a:srgbClr val="000000"/>
                </a:solidFill>
              </a:rPr>
              <a:t>Help with teamwork issues, animations, etc</a:t>
            </a:r>
          </a:p>
          <a:p>
            <a:pPr indent="0">
              <a:spcBef>
                <a:spcPts val="1200"/>
              </a:spcBef>
              <a:spcAft>
                <a:spcPts val="1200"/>
              </a:spcAft>
              <a:buFont typeface="Roboto"/>
              <a:buNone/>
            </a:pPr>
            <a:endParaRPr lang="en-GB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5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40C72B6-D007-30E6-C8E4-464420C5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>
            <a:extLst>
              <a:ext uri="{FF2B5EF4-FFF2-40B4-BE49-F238E27FC236}">
                <a16:creationId xmlns:a16="http://schemas.microsoft.com/office/drawing/2014/main" id="{ED95C1F9-70D4-A874-30BD-E4785B919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Timeline in June</a:t>
            </a:r>
            <a:endParaRPr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4A6CFC7E-CE73-DAC1-E65D-76F9E12098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130" name="Google Shape;130;p21">
            <a:extLst>
              <a:ext uri="{FF2B5EF4-FFF2-40B4-BE49-F238E27FC236}">
                <a16:creationId xmlns:a16="http://schemas.microsoft.com/office/drawing/2014/main" id="{1B525443-2B91-6B88-EAC3-AB18A290AAC4}"/>
              </a:ext>
            </a:extLst>
          </p:cNvPr>
          <p:cNvSpPr txBox="1"/>
          <p:nvPr/>
        </p:nvSpPr>
        <p:spPr>
          <a:xfrm rot="16200000">
            <a:off x="-266511" y="129094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Week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30;p21">
            <a:extLst>
              <a:ext uri="{FF2B5EF4-FFF2-40B4-BE49-F238E27FC236}">
                <a16:creationId xmlns:a16="http://schemas.microsoft.com/office/drawing/2014/main" id="{A021B9B9-DD8C-65A9-CD49-C482DE731495}"/>
              </a:ext>
            </a:extLst>
          </p:cNvPr>
          <p:cNvSpPr txBox="1"/>
          <p:nvPr/>
        </p:nvSpPr>
        <p:spPr>
          <a:xfrm>
            <a:off x="2376677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Tuesday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Google Shape;130;p21">
            <a:extLst>
              <a:ext uri="{FF2B5EF4-FFF2-40B4-BE49-F238E27FC236}">
                <a16:creationId xmlns:a16="http://schemas.microsoft.com/office/drawing/2014/main" id="{97CC1A25-2990-0F2B-A3BE-91528117E0BE}"/>
              </a:ext>
            </a:extLst>
          </p:cNvPr>
          <p:cNvSpPr txBox="1"/>
          <p:nvPr/>
        </p:nvSpPr>
        <p:spPr>
          <a:xfrm>
            <a:off x="747009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Monday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Google Shape;130;p21">
            <a:extLst>
              <a:ext uri="{FF2B5EF4-FFF2-40B4-BE49-F238E27FC236}">
                <a16:creationId xmlns:a16="http://schemas.microsoft.com/office/drawing/2014/main" id="{68F55BB7-9831-F75B-446A-9A1A6587AFB5}"/>
              </a:ext>
            </a:extLst>
          </p:cNvPr>
          <p:cNvSpPr txBox="1"/>
          <p:nvPr/>
        </p:nvSpPr>
        <p:spPr>
          <a:xfrm>
            <a:off x="4015275" y="171232"/>
            <a:ext cx="116907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Wednesday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Google Shape;130;p21">
            <a:extLst>
              <a:ext uri="{FF2B5EF4-FFF2-40B4-BE49-F238E27FC236}">
                <a16:creationId xmlns:a16="http://schemas.microsoft.com/office/drawing/2014/main" id="{A745B4DA-D5F7-92E1-3B70-07DF81AB2C82}"/>
              </a:ext>
            </a:extLst>
          </p:cNvPr>
          <p:cNvSpPr txBox="1"/>
          <p:nvPr/>
        </p:nvSpPr>
        <p:spPr>
          <a:xfrm>
            <a:off x="5627083" y="171232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Thursday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Google Shape;130;p21">
            <a:extLst>
              <a:ext uri="{FF2B5EF4-FFF2-40B4-BE49-F238E27FC236}">
                <a16:creationId xmlns:a16="http://schemas.microsoft.com/office/drawing/2014/main" id="{1AEB38D8-D02C-5BE7-67D0-C11F83F4450F}"/>
              </a:ext>
            </a:extLst>
          </p:cNvPr>
          <p:cNvSpPr txBox="1"/>
          <p:nvPr/>
        </p:nvSpPr>
        <p:spPr>
          <a:xfrm>
            <a:off x="7350513" y="171231"/>
            <a:ext cx="9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Friday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6395C8-1ED2-3956-9795-2CC845A8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6" y="1927395"/>
            <a:ext cx="9144000" cy="2735445"/>
          </a:xfrm>
          <a:prstGeom prst="rect">
            <a:avLst/>
          </a:prstGeom>
        </p:spPr>
      </p:pic>
      <p:sp>
        <p:nvSpPr>
          <p:cNvPr id="14" name="Google Shape;150;p23">
            <a:extLst>
              <a:ext uri="{FF2B5EF4-FFF2-40B4-BE49-F238E27FC236}">
                <a16:creationId xmlns:a16="http://schemas.microsoft.com/office/drawing/2014/main" id="{CA1D9A02-70AE-5F1F-9D54-856049E6C609}"/>
              </a:ext>
            </a:extLst>
          </p:cNvPr>
          <p:cNvSpPr/>
          <p:nvPr/>
        </p:nvSpPr>
        <p:spPr>
          <a:xfrm>
            <a:off x="7348667" y="3441009"/>
            <a:ext cx="1690956" cy="464188"/>
          </a:xfrm>
          <a:prstGeom prst="flowChartAlternateProcess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50;p23">
            <a:extLst>
              <a:ext uri="{FF2B5EF4-FFF2-40B4-BE49-F238E27FC236}">
                <a16:creationId xmlns:a16="http://schemas.microsoft.com/office/drawing/2014/main" id="{11BEC63E-381C-B015-33D8-614EC8B80B88}"/>
              </a:ext>
            </a:extLst>
          </p:cNvPr>
          <p:cNvSpPr/>
          <p:nvPr/>
        </p:nvSpPr>
        <p:spPr>
          <a:xfrm>
            <a:off x="406740" y="4168372"/>
            <a:ext cx="1690956" cy="464188"/>
          </a:xfrm>
          <a:prstGeom prst="flowChartAlternateProcess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64;p24">
            <a:extLst>
              <a:ext uri="{FF2B5EF4-FFF2-40B4-BE49-F238E27FC236}">
                <a16:creationId xmlns:a16="http://schemas.microsoft.com/office/drawing/2014/main" id="{2AF270C2-D305-4DD8-E918-BD86CF8B12A9}"/>
              </a:ext>
            </a:extLst>
          </p:cNvPr>
          <p:cNvSpPr txBox="1">
            <a:spLocks noGrp="1"/>
          </p:cNvSpPr>
          <p:nvPr/>
        </p:nvSpPr>
        <p:spPr>
          <a:xfrm>
            <a:off x="2663245" y="1187389"/>
            <a:ext cx="5753028" cy="1037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30200">
              <a:buClr>
                <a:srgbClr val="000000"/>
              </a:buClr>
              <a:buSzPts val="1600"/>
            </a:pPr>
            <a:r>
              <a:rPr lang="en-GB" sz="1200">
                <a:solidFill>
                  <a:srgbClr val="000000"/>
                </a:solidFill>
              </a:rPr>
              <a:t>Peer feedback on poster/animation will take place in the morning here.</a:t>
            </a:r>
            <a:endParaRPr lang="en-US" sz="12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GB" sz="1200">
                <a:solidFill>
                  <a:srgbClr val="000000"/>
                </a:solidFill>
              </a:rPr>
              <a:t>Online or </a:t>
            </a:r>
            <a:r>
              <a:rPr lang="en-GB" sz="1200" err="1">
                <a:solidFill>
                  <a:srgbClr val="000000"/>
                </a:solidFill>
              </a:rPr>
              <a:t>UvA</a:t>
            </a:r>
            <a:r>
              <a:rPr lang="en-GB" sz="1200">
                <a:solidFill>
                  <a:srgbClr val="000000"/>
                </a:solidFill>
              </a:rPr>
              <a:t>/VU locations</a:t>
            </a:r>
            <a:endParaRPr sz="1200">
              <a:solidFill>
                <a:srgbClr val="000000"/>
              </a:solidFill>
            </a:endParaRPr>
          </a:p>
          <a:p>
            <a:pPr indent="-330200">
              <a:buClr>
                <a:srgbClr val="000000"/>
              </a:buClr>
              <a:buSzPts val="1600"/>
            </a:pPr>
            <a:r>
              <a:rPr lang="en-GB" sz="1200">
                <a:solidFill>
                  <a:srgbClr val="000000"/>
                </a:solidFill>
              </a:rPr>
              <a:t>Not enforced, but we want them to complete it.</a:t>
            </a:r>
            <a:endParaRPr sz="12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53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Please note: a few students may have resits</a:t>
            </a:r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body" idx="1"/>
          </p:nvPr>
        </p:nvSpPr>
        <p:spPr>
          <a:xfrm>
            <a:off x="440875" y="1572325"/>
            <a:ext cx="8262300" cy="30909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r>
              <a:rPr lang="en-GB" sz="1600">
                <a:solidFill>
                  <a:srgbClr val="000000"/>
                </a:solidFill>
              </a:rPr>
              <a:t>We hope it shouldn't disrupt scheduling during working hours. But please be mindful that some students will be juggling this extra workload.</a:t>
            </a:r>
          </a:p>
          <a:p>
            <a:pPr marL="285750" indent="-285750">
              <a:lnSpc>
                <a:spcPct val="114999"/>
              </a:lnSpc>
            </a:pPr>
            <a:r>
              <a:rPr lang="en-US" sz="1600">
                <a:solidFill>
                  <a:srgbClr val="000000"/>
                </a:solidFill>
              </a:rPr>
              <a:t>Ask them to inform you and their teammates if this is the case.</a:t>
            </a:r>
          </a:p>
          <a:p>
            <a:pPr marL="285750" indent="-285750">
              <a:lnSpc>
                <a:spcPct val="114999"/>
              </a:lnSpc>
            </a:pPr>
            <a:r>
              <a:rPr lang="en-US" sz="1600">
                <a:solidFill>
                  <a:srgbClr val="000000"/>
                </a:solidFill>
              </a:rPr>
              <a:t>They should ensure to still contribute fully to their team.</a:t>
            </a:r>
          </a:p>
          <a:p>
            <a:pPr marL="285750" indent="-285750">
              <a:lnSpc>
                <a:spcPct val="114999"/>
              </a:lnSpc>
            </a:pPr>
            <a:r>
              <a:rPr lang="en-US" sz="1600">
                <a:solidFill>
                  <a:srgbClr val="000000"/>
                </a:solidFill>
              </a:rPr>
              <a:t>Include their efforts to </a:t>
            </a:r>
            <a:r>
              <a:rPr lang="en-US" sz="1600" err="1">
                <a:solidFill>
                  <a:srgbClr val="000000"/>
                </a:solidFill>
              </a:rPr>
              <a:t>minimise</a:t>
            </a:r>
            <a:r>
              <a:rPr lang="en-US" sz="1600">
                <a:solidFill>
                  <a:srgbClr val="000000"/>
                </a:solidFill>
              </a:rPr>
              <a:t> disruption as positive teamwork.</a:t>
            </a:r>
          </a:p>
          <a:p>
            <a:pPr marL="0" indent="0">
              <a:lnSpc>
                <a:spcPct val="114999"/>
              </a:lnSpc>
              <a:spcBef>
                <a:spcPts val="1200"/>
              </a:spcBef>
              <a:buNone/>
            </a:pPr>
            <a:endParaRPr lang="en-GB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What students should learn: Assessment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932057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Ownership (30%)</a:t>
            </a:r>
            <a:endParaRPr lang="en-US"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An essential (scientific/professional) skill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Team Work (20%)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Common lab journal, use of </a:t>
            </a:r>
            <a:r>
              <a:rPr lang="en-GB" sz="1650" err="1">
                <a:solidFill>
                  <a:schemeClr val="accent1"/>
                </a:solidFill>
              </a:rPr>
              <a:t>Github</a:t>
            </a:r>
            <a:r>
              <a:rPr lang="en-GB" sz="1650">
                <a:solidFill>
                  <a:schemeClr val="accent1"/>
                </a:solidFill>
              </a:rPr>
              <a:t>, structured meetings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Attitude (10%)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Displays interest and engages socially in research group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Poster (30%)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Char char="○"/>
            </a:pPr>
            <a:r>
              <a:rPr lang="en-GB" sz="1650">
                <a:solidFill>
                  <a:schemeClr val="accent1"/>
                </a:solidFill>
              </a:rPr>
              <a:t>Layout is effective, concise, convincing. Discussion is adding value.</a:t>
            </a:r>
            <a:endParaRPr sz="1650">
              <a:solidFill>
                <a:schemeClr val="accent1"/>
              </a:solidFill>
            </a:endParaRPr>
          </a:p>
          <a:p>
            <a:pPr indent="-333375">
              <a:buClr>
                <a:srgbClr val="000000"/>
              </a:buClr>
              <a:buSzPts val="1650"/>
            </a:pPr>
            <a:r>
              <a:rPr lang="en-GB" sz="1650" b="1">
                <a:solidFill>
                  <a:schemeClr val="accent1"/>
                </a:solidFill>
              </a:rPr>
              <a:t>Short animation (10%)</a:t>
            </a:r>
            <a:endParaRPr sz="1650" b="1">
              <a:solidFill>
                <a:schemeClr val="accent1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lt2"/>
              </a:buClr>
              <a:buSzPts val="1992"/>
            </a:pPr>
            <a:r>
              <a:rPr lang="en-GB" sz="1650">
                <a:solidFill>
                  <a:schemeClr val="accent1"/>
                </a:solidFill>
              </a:rPr>
              <a:t>Concise &amp; clear message that adds value, use of Manim</a:t>
            </a:r>
            <a:endParaRPr sz="1661" b="1">
              <a:solidFill>
                <a:schemeClr val="accen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 rot="-5400000">
            <a:off x="-689100" y="2330675"/>
            <a:ext cx="1778400" cy="400200"/>
          </a:xfrm>
          <a:prstGeom prst="rect">
            <a:avLst/>
          </a:prstGeom>
          <a:solidFill>
            <a:srgbClr val="D0F6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Scientific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 rot="-5400000">
            <a:off x="-428550" y="3848525"/>
            <a:ext cx="1257300" cy="400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Presentation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66158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What students should learn: Assessment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932057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FF0000"/>
                </a:solidFill>
              </a:rPr>
              <a:t>Ownership</a:t>
            </a:r>
            <a:r>
              <a:rPr lang="en-GB" sz="1650" b="1">
                <a:solidFill>
                  <a:schemeClr val="accent1"/>
                </a:solidFill>
              </a:rPr>
              <a:t> (30%)</a:t>
            </a:r>
            <a:endParaRPr lang="en-US"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An essential (scientific/professional) skill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FF0000"/>
                </a:solidFill>
              </a:rPr>
              <a:t>Team Work</a:t>
            </a:r>
            <a:r>
              <a:rPr lang="en-GB" sz="1650" b="1">
                <a:solidFill>
                  <a:schemeClr val="accent1"/>
                </a:solidFill>
              </a:rPr>
              <a:t> (20%)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Common lab journal, use of </a:t>
            </a:r>
            <a:r>
              <a:rPr lang="en-GB" sz="1650" err="1">
                <a:solidFill>
                  <a:schemeClr val="accent1"/>
                </a:solidFill>
              </a:rPr>
              <a:t>Github</a:t>
            </a:r>
            <a:r>
              <a:rPr lang="en-GB" sz="1650">
                <a:solidFill>
                  <a:schemeClr val="accent1"/>
                </a:solidFill>
              </a:rPr>
              <a:t>, structured meetings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FF0000"/>
                </a:solidFill>
              </a:rPr>
              <a:t>Attitude</a:t>
            </a:r>
            <a:r>
              <a:rPr lang="en-GB" sz="1650" b="1">
                <a:solidFill>
                  <a:schemeClr val="accent1"/>
                </a:solidFill>
              </a:rPr>
              <a:t> (10%)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Displays interest and engages socially in research group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rgbClr val="FF0000"/>
                </a:solidFill>
              </a:rPr>
              <a:t>Poster</a:t>
            </a:r>
            <a:r>
              <a:rPr lang="en-GB" sz="1650" b="1">
                <a:solidFill>
                  <a:schemeClr val="accent1"/>
                </a:solidFill>
              </a:rPr>
              <a:t> (30%)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Char char="○"/>
            </a:pPr>
            <a:r>
              <a:rPr lang="en-GB" sz="1650">
                <a:solidFill>
                  <a:schemeClr val="accent1"/>
                </a:solidFill>
              </a:rPr>
              <a:t>Layout is effective, concise, convincing. Discussion is adding value.</a:t>
            </a:r>
            <a:endParaRPr sz="1650">
              <a:solidFill>
                <a:schemeClr val="accent1"/>
              </a:solidFill>
            </a:endParaRPr>
          </a:p>
          <a:p>
            <a:pPr indent="-333375">
              <a:buClr>
                <a:srgbClr val="000000"/>
              </a:buClr>
              <a:buSzPts val="1650"/>
            </a:pPr>
            <a:r>
              <a:rPr lang="en-GB" sz="1650" b="1">
                <a:solidFill>
                  <a:schemeClr val="accent1"/>
                </a:solidFill>
              </a:rPr>
              <a:t>Short animation (10%)</a:t>
            </a:r>
            <a:endParaRPr sz="1650" b="1">
              <a:solidFill>
                <a:schemeClr val="accent1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lt2"/>
              </a:buClr>
              <a:buSzPts val="1992"/>
            </a:pPr>
            <a:r>
              <a:rPr lang="en-GB" sz="1700">
                <a:solidFill>
                  <a:schemeClr val="accent1"/>
                </a:solidFill>
              </a:rPr>
              <a:t>Concise &amp; clear message that adds value, use of Manim</a:t>
            </a:r>
            <a:endParaRPr sz="1650" b="1">
              <a:solidFill>
                <a:schemeClr val="accen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 rot="-5400000">
            <a:off x="-689100" y="2330675"/>
            <a:ext cx="1778400" cy="400200"/>
          </a:xfrm>
          <a:prstGeom prst="rect">
            <a:avLst/>
          </a:prstGeom>
          <a:solidFill>
            <a:srgbClr val="D0F6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Scientific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 rot="-5400000">
            <a:off x="-428550" y="3848525"/>
            <a:ext cx="1257300" cy="400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Presentation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86;p25">
            <a:extLst>
              <a:ext uri="{FF2B5EF4-FFF2-40B4-BE49-F238E27FC236}">
                <a16:creationId xmlns:a16="http://schemas.microsoft.com/office/drawing/2014/main" id="{511F8013-D2A8-CAB6-F452-E938B9DE9C55}"/>
              </a:ext>
            </a:extLst>
          </p:cNvPr>
          <p:cNvSpPr txBox="1">
            <a:spLocks/>
          </p:cNvSpPr>
          <p:nvPr/>
        </p:nvSpPr>
        <p:spPr>
          <a:xfrm>
            <a:off x="5842325" y="1490400"/>
            <a:ext cx="3055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3190" indent="0">
              <a:lnSpc>
                <a:spcPct val="95000"/>
              </a:lnSpc>
              <a:buClr>
                <a:srgbClr val="FF0000"/>
              </a:buClr>
              <a:buSzPts val="1662"/>
              <a:buNone/>
            </a:pPr>
            <a:r>
              <a:rPr lang="en-GB" sz="1661" b="1">
                <a:solidFill>
                  <a:srgbClr val="FF0000"/>
                </a:solidFill>
              </a:rPr>
              <a:t>Graded by the Supervisor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What students should learn: Assessment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932057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Ownership (30%)</a:t>
            </a:r>
            <a:endParaRPr lang="en-US"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An essential (scientific/professional) skill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00B0F0"/>
                </a:solidFill>
              </a:rPr>
              <a:t>Team Work</a:t>
            </a:r>
            <a:r>
              <a:rPr lang="en-GB" sz="1650" b="1">
                <a:solidFill>
                  <a:schemeClr val="accent1"/>
                </a:solidFill>
              </a:rPr>
              <a:t> (20%)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Common lab journal, use of </a:t>
            </a:r>
            <a:r>
              <a:rPr lang="en-GB" sz="1650" err="1">
                <a:solidFill>
                  <a:schemeClr val="accent1"/>
                </a:solidFill>
              </a:rPr>
              <a:t>Github</a:t>
            </a:r>
            <a:r>
              <a:rPr lang="en-GB" sz="1650">
                <a:solidFill>
                  <a:schemeClr val="accent1"/>
                </a:solidFill>
              </a:rPr>
              <a:t>, structured meetings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Attitude (10%)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Displays interest and engages socially in research group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Poster (30%)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Char char="○"/>
            </a:pPr>
            <a:r>
              <a:rPr lang="en-GB" sz="1650">
                <a:solidFill>
                  <a:schemeClr val="accent1"/>
                </a:solidFill>
              </a:rPr>
              <a:t>Layout is effective, concise, convincing. Discussion is adding value.</a:t>
            </a:r>
            <a:endParaRPr sz="1650">
              <a:solidFill>
                <a:schemeClr val="accent1"/>
              </a:solidFill>
            </a:endParaRPr>
          </a:p>
          <a:p>
            <a:pPr indent="-333375">
              <a:buClr>
                <a:srgbClr val="000000"/>
              </a:buClr>
              <a:buSzPts val="1650"/>
            </a:pPr>
            <a:r>
              <a:rPr lang="en-GB" sz="1650" b="1">
                <a:solidFill>
                  <a:srgbClr val="00B0F0"/>
                </a:solidFill>
              </a:rPr>
              <a:t>Short animation</a:t>
            </a:r>
            <a:r>
              <a:rPr lang="en-GB" sz="1650" b="1">
                <a:solidFill>
                  <a:schemeClr val="accent1"/>
                </a:solidFill>
              </a:rPr>
              <a:t> (10%)</a:t>
            </a:r>
            <a:endParaRPr sz="1650" b="1">
              <a:solidFill>
                <a:schemeClr val="accent1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lt2"/>
              </a:buClr>
              <a:buSzPts val="1992"/>
            </a:pPr>
            <a:r>
              <a:rPr lang="en-GB" sz="1700">
                <a:solidFill>
                  <a:schemeClr val="accent1"/>
                </a:solidFill>
              </a:rPr>
              <a:t>Concise &amp; clear message that adds value, use of Manim</a:t>
            </a:r>
            <a:endParaRPr sz="1661" b="1">
              <a:solidFill>
                <a:schemeClr val="accen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 rot="-5400000">
            <a:off x="-689100" y="2330675"/>
            <a:ext cx="1778400" cy="400200"/>
          </a:xfrm>
          <a:prstGeom prst="rect">
            <a:avLst/>
          </a:prstGeom>
          <a:solidFill>
            <a:srgbClr val="D0F6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Scientific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 rot="-5400000">
            <a:off x="-428550" y="3848525"/>
            <a:ext cx="1257300" cy="400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Presentation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86;p25">
            <a:extLst>
              <a:ext uri="{FF2B5EF4-FFF2-40B4-BE49-F238E27FC236}">
                <a16:creationId xmlns:a16="http://schemas.microsoft.com/office/drawing/2014/main" id="{511F8013-D2A8-CAB6-F452-E938B9DE9C55}"/>
              </a:ext>
            </a:extLst>
          </p:cNvPr>
          <p:cNvSpPr txBox="1">
            <a:spLocks/>
          </p:cNvSpPr>
          <p:nvPr/>
        </p:nvSpPr>
        <p:spPr>
          <a:xfrm>
            <a:off x="5842325" y="1490400"/>
            <a:ext cx="3055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3190" indent="0">
              <a:lnSpc>
                <a:spcPct val="95000"/>
              </a:lnSpc>
              <a:buClr>
                <a:srgbClr val="FF0000"/>
              </a:buClr>
              <a:buSzPts val="1662"/>
              <a:buNone/>
            </a:pPr>
            <a:r>
              <a:rPr lang="en-GB" sz="1650" b="1">
                <a:solidFill>
                  <a:srgbClr val="00B0F0"/>
                </a:solidFill>
              </a:rPr>
              <a:t>Graded by Clara/Joshua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8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What students should learn: Assessment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932057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Ownership (30%)</a:t>
            </a:r>
            <a:endParaRPr lang="en-US"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An essential (scientific/professional) skill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Team Work (20%)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Common lab journal, use of </a:t>
            </a:r>
            <a:r>
              <a:rPr lang="en-GB" sz="1650" err="1">
                <a:solidFill>
                  <a:schemeClr val="accent1"/>
                </a:solidFill>
              </a:rPr>
              <a:t>Github</a:t>
            </a:r>
            <a:r>
              <a:rPr lang="en-GB" sz="1650">
                <a:solidFill>
                  <a:schemeClr val="accent1"/>
                </a:solidFill>
              </a:rPr>
              <a:t>, structured meetings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Attitude (10%)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Displays interest and engages socially in research group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rgbClr val="00B050"/>
                </a:solidFill>
              </a:rPr>
              <a:t>Poster</a:t>
            </a:r>
            <a:r>
              <a:rPr lang="en-GB" sz="1650" b="1">
                <a:solidFill>
                  <a:schemeClr val="accent1"/>
                </a:solidFill>
              </a:rPr>
              <a:t> (30%)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Char char="○"/>
            </a:pPr>
            <a:r>
              <a:rPr lang="en-GB" sz="1650">
                <a:solidFill>
                  <a:schemeClr val="accent1"/>
                </a:solidFill>
              </a:rPr>
              <a:t>Layout is effective, concise, convincing. Discussion is adding value.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rgbClr val="00B050"/>
                </a:solidFill>
              </a:rPr>
              <a:t>Short animation</a:t>
            </a:r>
            <a:r>
              <a:rPr lang="en-GB" sz="1650" b="1">
                <a:solidFill>
                  <a:schemeClr val="accent1"/>
                </a:solidFill>
              </a:rPr>
              <a:t> (10%)</a:t>
            </a:r>
            <a:endParaRPr sz="1650" b="1">
              <a:solidFill>
                <a:schemeClr val="accent1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lt2"/>
              </a:buClr>
              <a:buSzPts val="1992"/>
            </a:pPr>
            <a:r>
              <a:rPr lang="en-GB" sz="1700">
                <a:solidFill>
                  <a:schemeClr val="accent1"/>
                </a:solidFill>
              </a:rPr>
              <a:t>Concise &amp; clear message that adds value, use of Manim</a:t>
            </a:r>
            <a:endParaRPr sz="1650" b="1">
              <a:solidFill>
                <a:schemeClr val="accen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 rot="-5400000">
            <a:off x="-689100" y="2330675"/>
            <a:ext cx="1778400" cy="400200"/>
          </a:xfrm>
          <a:prstGeom prst="rect">
            <a:avLst/>
          </a:prstGeom>
          <a:solidFill>
            <a:srgbClr val="D0F6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Scientific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 rot="-5400000">
            <a:off x="-428550" y="3848525"/>
            <a:ext cx="1257300" cy="400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Presentation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86;p25">
            <a:extLst>
              <a:ext uri="{FF2B5EF4-FFF2-40B4-BE49-F238E27FC236}">
                <a16:creationId xmlns:a16="http://schemas.microsoft.com/office/drawing/2014/main" id="{511F8013-D2A8-CAB6-F452-E938B9DE9C55}"/>
              </a:ext>
            </a:extLst>
          </p:cNvPr>
          <p:cNvSpPr txBox="1">
            <a:spLocks/>
          </p:cNvSpPr>
          <p:nvPr/>
        </p:nvSpPr>
        <p:spPr>
          <a:xfrm>
            <a:off x="5842325" y="1490400"/>
            <a:ext cx="3055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3190" indent="0">
              <a:lnSpc>
                <a:spcPct val="95000"/>
              </a:lnSpc>
              <a:buClr>
                <a:srgbClr val="FF0000"/>
              </a:buClr>
              <a:buSzPts val="1662"/>
              <a:buNone/>
            </a:pPr>
            <a:r>
              <a:rPr lang="en-GB" sz="1650" b="1">
                <a:solidFill>
                  <a:srgbClr val="00B050"/>
                </a:solidFill>
              </a:rPr>
              <a:t>Graded by Jury</a:t>
            </a:r>
            <a:endParaRPr lang="en-US" sz="165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710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What students should learn: Assessment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932057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7030A0"/>
                </a:solidFill>
              </a:rPr>
              <a:t>Ownership</a:t>
            </a:r>
            <a:r>
              <a:rPr lang="en-GB" sz="1650" b="1">
                <a:solidFill>
                  <a:schemeClr val="accent1"/>
                </a:solidFill>
              </a:rPr>
              <a:t> (30%)</a:t>
            </a:r>
            <a:endParaRPr lang="en-US"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An essential (scientific/professional) skill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7030A0"/>
                </a:solidFill>
              </a:rPr>
              <a:t>Team Work</a:t>
            </a:r>
            <a:r>
              <a:rPr lang="en-GB" sz="1650" b="1">
                <a:solidFill>
                  <a:schemeClr val="accent1"/>
                </a:solidFill>
              </a:rPr>
              <a:t> (20%)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Common lab journal, use of </a:t>
            </a:r>
            <a:r>
              <a:rPr lang="en-GB" sz="1650" err="1">
                <a:solidFill>
                  <a:schemeClr val="accent1"/>
                </a:solidFill>
              </a:rPr>
              <a:t>Github</a:t>
            </a:r>
            <a:r>
              <a:rPr lang="en-GB" sz="1650">
                <a:solidFill>
                  <a:schemeClr val="accent1"/>
                </a:solidFill>
              </a:rPr>
              <a:t>, structured meetings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7030A0"/>
                </a:solidFill>
              </a:rPr>
              <a:t>Attitude</a:t>
            </a:r>
            <a:r>
              <a:rPr lang="en-GB" sz="1650" b="1">
                <a:solidFill>
                  <a:schemeClr val="accent1"/>
                </a:solidFill>
              </a:rPr>
              <a:t> (10%)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Displays interest and engages socially in research group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chemeClr val="tx1"/>
                </a:solidFill>
              </a:rPr>
              <a:t>Poster</a:t>
            </a:r>
            <a:r>
              <a:rPr lang="en-GB" sz="1650" b="1">
                <a:solidFill>
                  <a:schemeClr val="accent1"/>
                </a:solidFill>
              </a:rPr>
              <a:t> (30%)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Char char="○"/>
            </a:pPr>
            <a:r>
              <a:rPr lang="en-GB" sz="1650">
                <a:solidFill>
                  <a:schemeClr val="accent1"/>
                </a:solidFill>
              </a:rPr>
              <a:t>Layout is effective, concise, convincing. Discussion is adding value.</a:t>
            </a:r>
            <a:endParaRPr sz="1650">
              <a:solidFill>
                <a:schemeClr val="accent1"/>
              </a:solidFill>
            </a:endParaRPr>
          </a:p>
          <a:p>
            <a:pPr indent="-333375">
              <a:buClr>
                <a:srgbClr val="000000"/>
              </a:buClr>
              <a:buSzPts val="1650"/>
            </a:pPr>
            <a:r>
              <a:rPr lang="en-GB" sz="1650" b="1">
                <a:solidFill>
                  <a:schemeClr val="tx1"/>
                </a:solidFill>
              </a:rPr>
              <a:t>Short animation</a:t>
            </a:r>
            <a:r>
              <a:rPr lang="en-GB" sz="1650" b="1">
                <a:solidFill>
                  <a:schemeClr val="accent1"/>
                </a:solidFill>
              </a:rPr>
              <a:t> (10%)</a:t>
            </a:r>
            <a:endParaRPr sz="1650" b="1">
              <a:solidFill>
                <a:schemeClr val="accent1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lt2"/>
              </a:buClr>
              <a:buSzPts val="1992"/>
            </a:pPr>
            <a:r>
              <a:rPr lang="en-GB" sz="1700">
                <a:solidFill>
                  <a:schemeClr val="accent1"/>
                </a:solidFill>
              </a:rPr>
              <a:t>Concise &amp; clear message that adds value, use of Manim</a:t>
            </a:r>
            <a:endParaRPr sz="1650" b="1">
              <a:solidFill>
                <a:schemeClr val="accen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 rot="-5400000">
            <a:off x="-689100" y="2330675"/>
            <a:ext cx="1778400" cy="400200"/>
          </a:xfrm>
          <a:prstGeom prst="rect">
            <a:avLst/>
          </a:prstGeom>
          <a:solidFill>
            <a:srgbClr val="D0F6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Scientific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 rot="-5400000">
            <a:off x="-428550" y="3848525"/>
            <a:ext cx="1257300" cy="400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Presentation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86;p25">
            <a:extLst>
              <a:ext uri="{FF2B5EF4-FFF2-40B4-BE49-F238E27FC236}">
                <a16:creationId xmlns:a16="http://schemas.microsoft.com/office/drawing/2014/main" id="{511F8013-D2A8-CAB6-F452-E938B9DE9C55}"/>
              </a:ext>
            </a:extLst>
          </p:cNvPr>
          <p:cNvSpPr txBox="1">
            <a:spLocks/>
          </p:cNvSpPr>
          <p:nvPr/>
        </p:nvSpPr>
        <p:spPr>
          <a:xfrm>
            <a:off x="5842325" y="1490400"/>
            <a:ext cx="3055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3190" indent="0">
              <a:lnSpc>
                <a:spcPct val="95000"/>
              </a:lnSpc>
              <a:buNone/>
            </a:pPr>
            <a:r>
              <a:rPr lang="en-GB" sz="1650" b="1">
                <a:solidFill>
                  <a:srgbClr val="7030A0"/>
                </a:solidFill>
              </a:rPr>
              <a:t>Personal Grade</a:t>
            </a:r>
          </a:p>
        </p:txBody>
      </p:sp>
    </p:spTree>
    <p:extLst>
      <p:ext uri="{BB962C8B-B14F-4D97-AF65-F5344CB8AC3E}">
        <p14:creationId xmlns:p14="http://schemas.microsoft.com/office/powerpoint/2010/main" val="3866778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/>
              <a:t>What students should learn: Assessment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932057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Ownership (30%)</a:t>
            </a:r>
            <a:endParaRPr lang="en-US"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An essential (scientific/professional) skill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FFC000"/>
                </a:solidFill>
              </a:rPr>
              <a:t>Team Work</a:t>
            </a:r>
            <a:r>
              <a:rPr lang="en-GB" sz="1650" b="1">
                <a:solidFill>
                  <a:schemeClr val="accent1"/>
                </a:solidFill>
              </a:rPr>
              <a:t> (20%)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Common lab journal, use of </a:t>
            </a:r>
            <a:r>
              <a:rPr lang="en-GB" sz="1650" err="1">
                <a:solidFill>
                  <a:schemeClr val="accent1"/>
                </a:solidFill>
              </a:rPr>
              <a:t>Github</a:t>
            </a:r>
            <a:r>
              <a:rPr lang="en-GB" sz="1650">
                <a:solidFill>
                  <a:schemeClr val="accent1"/>
                </a:solidFill>
              </a:rPr>
              <a:t>, structured meetings</a:t>
            </a:r>
            <a:endParaRPr sz="1650">
              <a:solidFill>
                <a:schemeClr val="accent1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chemeClr val="accent1"/>
                </a:solidFill>
              </a:rPr>
              <a:t>Attitude (10%)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accent1"/>
                </a:solidFill>
              </a:rPr>
              <a:t>Displays interest and engages socially in research group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rgbClr val="FFC000"/>
                </a:solidFill>
              </a:rPr>
              <a:t>Poster</a:t>
            </a:r>
            <a:r>
              <a:rPr lang="en-GB" sz="1650" b="1">
                <a:solidFill>
                  <a:schemeClr val="accent1"/>
                </a:solidFill>
              </a:rPr>
              <a:t> (30%)</a:t>
            </a:r>
            <a:endParaRPr sz="1650" b="1">
              <a:solidFill>
                <a:schemeClr val="accent1"/>
              </a:solidFill>
            </a:endParaRPr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Char char="○"/>
            </a:pPr>
            <a:r>
              <a:rPr lang="en-GB" sz="1650">
                <a:solidFill>
                  <a:schemeClr val="accent1"/>
                </a:solidFill>
              </a:rPr>
              <a:t>Layout is effective, concise, convincing. Discussion is adding value.</a:t>
            </a:r>
            <a:endParaRPr sz="1650">
              <a:solidFill>
                <a:schemeClr val="accent1"/>
              </a:solidFill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Char char="●"/>
            </a:pPr>
            <a:r>
              <a:rPr lang="en-GB" sz="1650" b="1">
                <a:solidFill>
                  <a:srgbClr val="FFC000"/>
                </a:solidFill>
              </a:rPr>
              <a:t>Short animation</a:t>
            </a:r>
            <a:r>
              <a:rPr lang="en-GB" sz="1650" b="1">
                <a:solidFill>
                  <a:schemeClr val="accent1"/>
                </a:solidFill>
              </a:rPr>
              <a:t> (10%)</a:t>
            </a:r>
            <a:endParaRPr sz="1650" b="1">
              <a:solidFill>
                <a:schemeClr val="accent1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lt2"/>
              </a:buClr>
              <a:buSzPts val="1992"/>
            </a:pPr>
            <a:r>
              <a:rPr lang="en-GB" sz="1700">
                <a:solidFill>
                  <a:schemeClr val="accent1"/>
                </a:solidFill>
              </a:rPr>
              <a:t>Concise &amp; clear message that adds value, use of Manim</a:t>
            </a:r>
            <a:r>
              <a:rPr lang="en-GB" sz="1650">
                <a:solidFill>
                  <a:schemeClr val="accent1"/>
                </a:solidFill>
              </a:rPr>
              <a:t> </a:t>
            </a:r>
            <a:endParaRPr sz="1661" b="1">
              <a:solidFill>
                <a:schemeClr val="accent1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 rot="-5400000">
            <a:off x="-689100" y="2330675"/>
            <a:ext cx="1778400" cy="400200"/>
          </a:xfrm>
          <a:prstGeom prst="rect">
            <a:avLst/>
          </a:prstGeom>
          <a:solidFill>
            <a:srgbClr val="D0F6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Scientific skills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 rot="-5400000">
            <a:off x="-428550" y="3848525"/>
            <a:ext cx="1257300" cy="4002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Presentation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86;p25">
            <a:extLst>
              <a:ext uri="{FF2B5EF4-FFF2-40B4-BE49-F238E27FC236}">
                <a16:creationId xmlns:a16="http://schemas.microsoft.com/office/drawing/2014/main" id="{511F8013-D2A8-CAB6-F452-E938B9DE9C55}"/>
              </a:ext>
            </a:extLst>
          </p:cNvPr>
          <p:cNvSpPr txBox="1">
            <a:spLocks/>
          </p:cNvSpPr>
          <p:nvPr/>
        </p:nvSpPr>
        <p:spPr>
          <a:xfrm>
            <a:off x="5842325" y="1490400"/>
            <a:ext cx="3055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3190" indent="0">
              <a:lnSpc>
                <a:spcPct val="95000"/>
              </a:lnSpc>
              <a:buNone/>
            </a:pPr>
            <a:r>
              <a:rPr lang="en-GB" sz="1650" b="1">
                <a:solidFill>
                  <a:srgbClr val="FFC000"/>
                </a:solidFill>
              </a:rPr>
              <a:t>Team Grade</a:t>
            </a:r>
          </a:p>
        </p:txBody>
      </p:sp>
    </p:spTree>
    <p:extLst>
      <p:ext uri="{BB962C8B-B14F-4D97-AF65-F5344CB8AC3E}">
        <p14:creationId xmlns:p14="http://schemas.microsoft.com/office/powerpoint/2010/main" val="2154355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Clear rubric for assessment: </a:t>
            </a:r>
            <a:r>
              <a:rPr lang="en-GB" sz="2820" b="1"/>
              <a:t>Ownership</a:t>
            </a:r>
            <a:endParaRPr sz="282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</p:txBody>
      </p:sp>
      <p:pic>
        <p:nvPicPr>
          <p:cNvPr id="2" name="Picture 1" descr="A screenshot of a screen&#10;&#10;Description automatically generated">
            <a:extLst>
              <a:ext uri="{FF2B5EF4-FFF2-40B4-BE49-F238E27FC236}">
                <a16:creationId xmlns:a16="http://schemas.microsoft.com/office/drawing/2014/main" id="{98EA42C6-1FE3-9D95-5F67-0817BB3AF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456069"/>
            <a:ext cx="874395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 on Teamwork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79404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Char char="●"/>
            </a:pPr>
            <a:r>
              <a:rPr lang="en-GB" sz="1650" b="1">
                <a:solidFill>
                  <a:srgbClr val="000000"/>
                </a:solidFill>
              </a:rPr>
              <a:t>Part of lecture/exercises on June 1</a:t>
            </a:r>
            <a:endParaRPr lang="en-US" sz="1661" b="1">
              <a:solidFill>
                <a:srgbClr val="000000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○"/>
            </a:pPr>
            <a:r>
              <a:rPr lang="en-GB" sz="1650">
                <a:solidFill>
                  <a:schemeClr val="lt2"/>
                </a:solidFill>
              </a:rPr>
              <a:t>How to run meetings</a:t>
            </a:r>
            <a:endParaRPr sz="1650">
              <a:solidFill>
                <a:schemeClr val="lt2"/>
              </a:solidFill>
            </a:endParaRPr>
          </a:p>
          <a:p>
            <a:pPr marL="914400" lvl="1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62"/>
              <a:buChar char="○"/>
            </a:pPr>
            <a:r>
              <a:rPr lang="en-GB" sz="1650">
                <a:solidFill>
                  <a:schemeClr val="lt2"/>
                </a:solidFill>
              </a:rPr>
              <a:t>How to collaborate digitally</a:t>
            </a:r>
            <a:endParaRPr sz="1650">
              <a:solidFill>
                <a:schemeClr val="lt2"/>
              </a:solidFill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61">
              <a:solidFill>
                <a:srgbClr val="000000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r>
              <a:rPr lang="en-GB" sz="1650" b="1">
                <a:solidFill>
                  <a:srgbClr val="000000"/>
                </a:solidFill>
              </a:rPr>
              <a:t>Platforms to make teamwork concrete and visible</a:t>
            </a:r>
            <a:endParaRPr sz="1650" b="1">
              <a:solidFill>
                <a:srgbClr val="000000"/>
              </a:solidFill>
            </a:endParaRPr>
          </a:p>
          <a:p>
            <a:pPr marL="914400" lvl="1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62"/>
              <a:buChar char="○"/>
            </a:pPr>
            <a:r>
              <a:rPr lang="en-GB" sz="1650" err="1">
                <a:solidFill>
                  <a:schemeClr val="lt2"/>
                </a:solidFill>
              </a:rPr>
              <a:t>Github</a:t>
            </a:r>
            <a:r>
              <a:rPr lang="en-GB" sz="1650">
                <a:solidFill>
                  <a:schemeClr val="lt2"/>
                </a:solidFill>
              </a:rPr>
              <a:t> (supported by Clara/Joshua)</a:t>
            </a:r>
            <a:endParaRPr sz="1650">
              <a:solidFill>
                <a:schemeClr val="lt2"/>
              </a:solidFill>
            </a:endParaRPr>
          </a:p>
          <a:p>
            <a:pPr marL="914400" lvl="1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62"/>
              <a:buChar char="○"/>
            </a:pPr>
            <a:r>
              <a:rPr lang="en-GB" sz="1650">
                <a:solidFill>
                  <a:schemeClr val="lt2"/>
                </a:solidFill>
              </a:rPr>
              <a:t>… as you prefer (supported by </a:t>
            </a:r>
            <a:r>
              <a:rPr lang="en-GB" sz="1650" b="1">
                <a:solidFill>
                  <a:srgbClr val="FF0000"/>
                </a:solidFill>
              </a:rPr>
              <a:t>you</a:t>
            </a:r>
            <a:r>
              <a:rPr lang="en-GB" sz="1650">
                <a:solidFill>
                  <a:schemeClr val="lt2"/>
                </a:solidFill>
              </a:rPr>
              <a:t>)</a:t>
            </a:r>
          </a:p>
          <a:p>
            <a:pPr lvl="1" indent="-334010">
              <a:lnSpc>
                <a:spcPct val="95000"/>
              </a:lnSpc>
              <a:buClr>
                <a:schemeClr val="lt2"/>
              </a:buClr>
              <a:buSzPts val="1662"/>
            </a:pPr>
            <a:r>
              <a:rPr lang="en-GB" sz="1650">
                <a:solidFill>
                  <a:schemeClr val="lt2"/>
                </a:solidFill>
              </a:rPr>
              <a:t>We provide </a:t>
            </a:r>
            <a:r>
              <a:rPr lang="en-GB" sz="1650" b="1">
                <a:solidFill>
                  <a:schemeClr val="lt2"/>
                </a:solidFill>
              </a:rPr>
              <a:t>templates</a:t>
            </a:r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7375" y="1737500"/>
            <a:ext cx="2989999" cy="298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8"/>
          <p:cNvPicPr preferRelativeResize="0"/>
          <p:nvPr/>
        </p:nvPicPr>
        <p:blipFill rotWithShape="1">
          <a:blip r:embed="rId4">
            <a:alphaModFix/>
          </a:blip>
          <a:srcRect t="29541" b="34081"/>
          <a:stretch/>
        </p:blipFill>
        <p:spPr>
          <a:xfrm>
            <a:off x="4546350" y="45527"/>
            <a:ext cx="3407551" cy="12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 rotWithShape="1">
          <a:blip r:embed="rId4">
            <a:alphaModFix/>
          </a:blip>
          <a:srcRect l="12581" t="29541" r="44783" b="34081"/>
          <a:stretch/>
        </p:blipFill>
        <p:spPr>
          <a:xfrm>
            <a:off x="7691150" y="45525"/>
            <a:ext cx="1452851" cy="12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Clear rubric for assessment: </a:t>
            </a:r>
            <a:r>
              <a:rPr lang="en-GB" sz="2820" b="1"/>
              <a:t>Teamwork</a:t>
            </a:r>
            <a:endParaRPr sz="282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</p:txBody>
      </p:sp>
      <p:sp>
        <p:nvSpPr>
          <p:cNvPr id="218" name="Google Shape;21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pic>
        <p:nvPicPr>
          <p:cNvPr id="2" name="Picture 1" descr="A white and black text on a white surface&#10;&#10;AI-generated content may be incorrect.">
            <a:extLst>
              <a:ext uri="{FF2B5EF4-FFF2-40B4-BE49-F238E27FC236}">
                <a16:creationId xmlns:a16="http://schemas.microsoft.com/office/drawing/2014/main" id="{27F49F1E-1E4A-F27D-73CA-68FA49C90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7" y="1450171"/>
            <a:ext cx="8611115" cy="36101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 on Poster Making &amp; Animations</a:t>
            </a:r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4316163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92"/>
              <a:buChar char="●"/>
            </a:pPr>
            <a:r>
              <a:rPr lang="en-GB" sz="1650" b="1">
                <a:solidFill>
                  <a:schemeClr val="lt2"/>
                </a:solidFill>
              </a:rPr>
              <a:t>Poster training</a:t>
            </a:r>
            <a:endParaRPr lang="en-US" sz="1650" b="1">
              <a:solidFill>
                <a:schemeClr val="lt2"/>
              </a:solidFill>
            </a:endParaRPr>
          </a:p>
          <a:p>
            <a:pPr marL="914400" lvl="1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62"/>
              <a:buChar char="○"/>
            </a:pPr>
            <a:r>
              <a:rPr lang="en-GB" sz="1650">
                <a:solidFill>
                  <a:schemeClr val="lt2"/>
                </a:solidFill>
              </a:rPr>
              <a:t>Already received training in AVT</a:t>
            </a:r>
            <a:endParaRPr sz="1650">
              <a:solidFill>
                <a:schemeClr val="lt2"/>
              </a:solidFill>
            </a:endParaRPr>
          </a:p>
          <a:p>
            <a:pPr marL="914400" lvl="1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62"/>
              <a:buChar char="○"/>
            </a:pPr>
            <a:r>
              <a:rPr lang="en-GB" sz="1650">
                <a:solidFill>
                  <a:schemeClr val="lt2"/>
                </a:solidFill>
              </a:rPr>
              <a:t>Please feel free to </a:t>
            </a:r>
            <a:r>
              <a:rPr lang="en-GB" sz="1650">
                <a:solidFill>
                  <a:srgbClr val="FF0000"/>
                </a:solidFill>
              </a:rPr>
              <a:t>share good examples with your group</a:t>
            </a:r>
            <a:endParaRPr sz="1650">
              <a:solidFill>
                <a:srgbClr val="FF0000"/>
              </a:solidFill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61">
              <a:solidFill>
                <a:schemeClr val="lt2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62"/>
              <a:buChar char="●"/>
            </a:pPr>
            <a:r>
              <a:rPr lang="en-GB" sz="1650" b="1">
                <a:solidFill>
                  <a:schemeClr val="lt2"/>
                </a:solidFill>
              </a:rPr>
              <a:t>Animation training</a:t>
            </a:r>
            <a:endParaRPr sz="1650" b="1">
              <a:solidFill>
                <a:schemeClr val="lt2"/>
              </a:solidFill>
            </a:endParaRPr>
          </a:p>
          <a:p>
            <a:pPr lvl="1" indent="-334010">
              <a:lnSpc>
                <a:spcPct val="95000"/>
              </a:lnSpc>
              <a:buClr>
                <a:schemeClr val="lt2"/>
              </a:buClr>
              <a:buSzPts val="1662"/>
            </a:pPr>
            <a:r>
              <a:rPr lang="en-GB" sz="1650">
                <a:solidFill>
                  <a:schemeClr val="lt2"/>
                </a:solidFill>
              </a:rPr>
              <a:t>Provided by us in week 24</a:t>
            </a:r>
          </a:p>
          <a:p>
            <a:pPr lvl="2">
              <a:lnSpc>
                <a:spcPct val="95000"/>
              </a:lnSpc>
              <a:buClr>
                <a:schemeClr val="lt2"/>
              </a:buClr>
              <a:buSzPts val="1662"/>
            </a:pPr>
            <a:r>
              <a:rPr lang="en-GB" sz="1650">
                <a:solidFill>
                  <a:schemeClr val="lt2"/>
                </a:solidFill>
              </a:rPr>
              <a:t>(Monday June 8, 9-11)  </a:t>
            </a:r>
            <a:endParaRPr lang="en-GB">
              <a:solidFill>
                <a:schemeClr val="lt2"/>
              </a:solidFill>
            </a:endParaRPr>
          </a:p>
          <a:p>
            <a:pPr lvl="1" indent="-334010">
              <a:lnSpc>
                <a:spcPct val="95000"/>
              </a:lnSpc>
              <a:buClr>
                <a:schemeClr val="lt2"/>
              </a:buClr>
              <a:buSzPts val="1662"/>
            </a:pPr>
            <a:r>
              <a:rPr lang="en-GB" sz="1650">
                <a:solidFill>
                  <a:schemeClr val="lt2"/>
                </a:solidFill>
              </a:rPr>
              <a:t>Animations will be added to the poster via QR code</a:t>
            </a:r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325" y="1283100"/>
            <a:ext cx="3441650" cy="3441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311700" y="2370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Clear rubric for assessment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Attitude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1150" y="258275"/>
            <a:ext cx="1703900" cy="1703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843D4E96-A612-2538-4456-864E0B0D0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14" y="2253758"/>
            <a:ext cx="8465737" cy="21934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Intermediate feedback is key!</a:t>
            </a:r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  <p:sp>
        <p:nvSpPr>
          <p:cNvPr id="241" name="Google Shape;241;p33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50862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54965">
              <a:lnSpc>
                <a:spcPct val="95000"/>
              </a:lnSpc>
              <a:buSzPts val="1992"/>
            </a:pPr>
            <a:r>
              <a:rPr lang="en-GB" sz="1650" b="1">
                <a:solidFill>
                  <a:srgbClr val="000000"/>
                </a:solidFill>
              </a:rPr>
              <a:t>Mid-June </a:t>
            </a:r>
            <a:endParaRPr lang="en-US" sz="1661" b="1">
              <a:solidFill>
                <a:srgbClr val="000000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2"/>
              <a:buChar char="○"/>
            </a:pPr>
            <a:r>
              <a:rPr lang="en-GB" sz="1650">
                <a:solidFill>
                  <a:schemeClr val="dk1"/>
                </a:solidFill>
              </a:rPr>
              <a:t>Provide “tops” &amp; “tips” based on rubrics</a:t>
            </a:r>
            <a:endParaRPr sz="1650">
              <a:solidFill>
                <a:schemeClr val="dk1"/>
              </a:solidFill>
            </a:endParaRPr>
          </a:p>
          <a:p>
            <a:pPr lvl="1" indent="-334010">
              <a:lnSpc>
                <a:spcPct val="95000"/>
              </a:lnSpc>
              <a:buClr>
                <a:schemeClr val="dk1"/>
              </a:buClr>
              <a:buSzPts val="1662"/>
            </a:pPr>
            <a:r>
              <a:rPr lang="en-GB" sz="1650">
                <a:solidFill>
                  <a:srgbClr val="FF0000"/>
                </a:solidFill>
              </a:rPr>
              <a:t>Optional: provide comments via form</a:t>
            </a:r>
            <a:endParaRPr lang="en-GB" sz="1650">
              <a:solidFill>
                <a:srgbClr val="31394D"/>
              </a:solidFill>
            </a:endParaRPr>
          </a:p>
          <a:p>
            <a:pPr lvl="1" indent="-334010">
              <a:lnSpc>
                <a:spcPct val="95000"/>
              </a:lnSpc>
              <a:buClr>
                <a:schemeClr val="dk1"/>
              </a:buClr>
              <a:buSzPts val="1662"/>
            </a:pPr>
            <a:r>
              <a:rPr lang="en-GB" sz="1650">
                <a:solidFill>
                  <a:schemeClr val="dk1"/>
                </a:solidFill>
              </a:rPr>
              <a:t>Encourage students to read rubrics!</a:t>
            </a:r>
            <a:endParaRPr sz="1650">
              <a:solidFill>
                <a:schemeClr val="dk1"/>
              </a:solidFill>
            </a:endParaRPr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025" y="1342750"/>
            <a:ext cx="3714074" cy="37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1475" y="3169775"/>
            <a:ext cx="1821876" cy="182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access WZI / VU </a:t>
            </a:r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8161909" cy="35450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92"/>
              <a:buChar char="●"/>
            </a:pPr>
            <a:r>
              <a:rPr lang="en-GB" sz="1650" b="1">
                <a:solidFill>
                  <a:srgbClr val="000000"/>
                </a:solidFill>
              </a:rPr>
              <a:t>Via secretariats VU/</a:t>
            </a:r>
            <a:r>
              <a:rPr lang="en-GB" sz="1650" b="1" err="1">
                <a:solidFill>
                  <a:srgbClr val="000000"/>
                </a:solidFill>
              </a:rPr>
              <a:t>UvA</a:t>
            </a:r>
            <a:endParaRPr lang="en-US" sz="1650" b="1" err="1">
              <a:solidFill>
                <a:srgbClr val="000000"/>
              </a:solidFill>
            </a:endParaRPr>
          </a:p>
          <a:p>
            <a:pPr lvl="1" indent="-354965">
              <a:lnSpc>
                <a:spcPct val="95000"/>
              </a:lnSpc>
              <a:buSzPts val="1992"/>
            </a:pPr>
            <a:r>
              <a:rPr lang="en-GB" sz="1650">
                <a:solidFill>
                  <a:srgbClr val="000000"/>
                </a:solidFill>
              </a:rPr>
              <a:t>VU secretariat knows the names, but not room numbers</a:t>
            </a:r>
            <a:endParaRPr sz="1650">
              <a:solidFill>
                <a:srgbClr val="000000"/>
              </a:solidFill>
            </a:endParaRPr>
          </a:p>
          <a:p>
            <a:pPr lvl="1" indent="-334010">
              <a:lnSpc>
                <a:spcPct val="95000"/>
              </a:lnSpc>
              <a:buClr>
                <a:srgbClr val="000000"/>
              </a:buClr>
              <a:buSzPts val="1662"/>
            </a:pPr>
            <a:r>
              <a:rPr lang="en-GB" sz="1650" err="1">
                <a:solidFill>
                  <a:srgbClr val="000000"/>
                </a:solidFill>
              </a:rPr>
              <a:t>UvA</a:t>
            </a:r>
            <a:r>
              <a:rPr lang="en-GB" sz="1650">
                <a:solidFill>
                  <a:srgbClr val="000000"/>
                </a:solidFill>
              </a:rPr>
              <a:t> secretariat: we can send them a list if needed (but don't know room#)</a:t>
            </a:r>
            <a:endParaRPr sz="1650">
              <a:solidFill>
                <a:srgbClr val="000000"/>
              </a:solidFill>
            </a:endParaRPr>
          </a:p>
          <a:p>
            <a:pPr marL="914400" lvl="1" indent="-35496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2"/>
              <a:buChar char="○"/>
            </a:pPr>
            <a:r>
              <a:rPr lang="en-GB" sz="1650">
                <a:solidFill>
                  <a:schemeClr val="dk1"/>
                </a:solidFill>
              </a:rPr>
              <a:t>AMOLF/ARCNL/NIKHEF/AMCA: please arrange yourself :)</a:t>
            </a:r>
            <a:endParaRPr sz="165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6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Assessment Support Meetings</a:t>
            </a:r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49920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r>
              <a:rPr lang="en-GB" sz="1650" b="1">
                <a:solidFill>
                  <a:srgbClr val="000000"/>
                </a:solidFill>
              </a:rPr>
              <a:t>Optional online support meeting, Zoom</a:t>
            </a:r>
            <a:endParaRPr lang="en-US" sz="1650" b="1">
              <a:solidFill>
                <a:srgbClr val="000000"/>
              </a:solidFill>
            </a:endParaRPr>
          </a:p>
          <a:p>
            <a:pPr lvl="1" indent="-354965">
              <a:lnSpc>
                <a:spcPct val="95000"/>
              </a:lnSpc>
              <a:buClr>
                <a:schemeClr val="dk1"/>
              </a:buClr>
              <a:buSzPts val="1992"/>
            </a:pPr>
            <a:r>
              <a:rPr lang="en-GB" sz="1650">
                <a:solidFill>
                  <a:schemeClr val="dk1"/>
                </a:solidFill>
              </a:rPr>
              <a:t>Held 23rd/24th June (times to be confirmed)</a:t>
            </a:r>
            <a:endParaRPr sz="1650">
              <a:solidFill>
                <a:schemeClr val="dk1"/>
              </a:solidFill>
            </a:endParaRPr>
          </a:p>
          <a:p>
            <a:pPr marL="12319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2"/>
              <a:buNone/>
            </a:pPr>
            <a:endParaRPr lang="en-GB" sz="1650">
              <a:solidFill>
                <a:schemeClr val="dk1"/>
              </a:solidFill>
            </a:endParaRPr>
          </a:p>
          <a:p>
            <a:pPr marL="12319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2"/>
              <a:buNone/>
            </a:pPr>
            <a:endParaRPr lang="en-GB" sz="1650">
              <a:solidFill>
                <a:schemeClr val="dk1"/>
              </a:solidFill>
            </a:endParaRPr>
          </a:p>
          <a:p>
            <a:pPr marL="123190" indent="0" algn="l">
              <a:lnSpc>
                <a:spcPct val="95000"/>
              </a:lnSpc>
              <a:spcAft>
                <a:spcPts val="0"/>
              </a:spcAft>
              <a:buSzPts val="1662"/>
              <a:buNone/>
            </a:pPr>
            <a:endParaRPr lang="en-GB" sz="1650">
              <a:solidFill>
                <a:schemeClr val="dk1"/>
              </a:solidFill>
            </a:endParaRPr>
          </a:p>
          <a:p>
            <a:pPr marL="914400" lvl="1" indent="-334010">
              <a:buClr>
                <a:srgbClr val="31394D"/>
              </a:buClr>
              <a:buSzPts val="1662"/>
            </a:pPr>
            <a:endParaRPr lang="en-GB" u="sng">
              <a:solidFill>
                <a:srgbClr val="009384"/>
              </a:solidFill>
              <a:latin typeface="Arial"/>
              <a:cs typeface="Arial"/>
            </a:endParaRPr>
          </a:p>
          <a:p>
            <a:pPr marL="914400" indent="0">
              <a:lnSpc>
                <a:spcPct val="95000"/>
              </a:lnSpc>
              <a:spcBef>
                <a:spcPts val="1200"/>
              </a:spcBef>
              <a:buClr>
                <a:srgbClr val="666666"/>
              </a:buClr>
              <a:buNone/>
            </a:pPr>
            <a:endParaRPr lang="en-GB" sz="1661">
              <a:solidFill>
                <a:srgbClr val="31394D"/>
              </a:solidFill>
            </a:endParaRPr>
          </a:p>
          <a:p>
            <a:pPr marL="457200" lvl="0" indent="-33401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62"/>
              <a:buChar char="●"/>
            </a:pPr>
            <a:r>
              <a:rPr lang="en-GB" sz="1650" b="1">
                <a:solidFill>
                  <a:srgbClr val="FF0000"/>
                </a:solidFill>
              </a:rPr>
              <a:t>Final assessments due June 26th midnight</a:t>
            </a:r>
          </a:p>
          <a:p>
            <a:pPr indent="-334010">
              <a:lnSpc>
                <a:spcPct val="95000"/>
              </a:lnSpc>
              <a:buClr>
                <a:srgbClr val="FF0000"/>
              </a:buClr>
              <a:buSzPts val="1662"/>
            </a:pPr>
            <a:r>
              <a:rPr lang="en-GB" sz="1650" b="1">
                <a:solidFill>
                  <a:srgbClr val="FF0000"/>
                </a:solidFill>
              </a:rPr>
              <a:t>Easy survey offered to make grading simple!</a:t>
            </a:r>
          </a:p>
        </p:txBody>
      </p:sp>
      <p:pic>
        <p:nvPicPr>
          <p:cNvPr id="259" name="Google Shape;25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075" y="1475125"/>
            <a:ext cx="3233793" cy="3233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get in touch with us if you have any Qs</a:t>
            </a:r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body" idx="1"/>
          </p:nvPr>
        </p:nvSpPr>
        <p:spPr>
          <a:xfrm>
            <a:off x="338100" y="2340675"/>
            <a:ext cx="7940400" cy="2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r>
              <a:rPr lang="en-GB" sz="1700" b="1">
                <a:solidFill>
                  <a:srgbClr val="000000"/>
                </a:solidFill>
              </a:rPr>
              <a:t>Joshua: </a:t>
            </a:r>
            <a:r>
              <a:rPr lang="en-GB" sz="1700" b="1">
                <a:solidFill>
                  <a:srgbClr val="000000"/>
                </a:solidFill>
                <a:hlinkClick r:id="rId3"/>
              </a:rPr>
              <a:t>j.a.dijksman@uva.nl</a:t>
            </a:r>
            <a:endParaRPr lang="en-GB" sz="1700" b="1">
              <a:solidFill>
                <a:srgbClr val="000000"/>
              </a:solidFill>
            </a:endParaRPr>
          </a:p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r>
              <a:rPr lang="en-GB" sz="1700" b="1">
                <a:solidFill>
                  <a:srgbClr val="000000"/>
                </a:solidFill>
              </a:rPr>
              <a:t>Clara: </a:t>
            </a:r>
            <a:r>
              <a:rPr lang="en-GB" sz="1700" b="1">
                <a:solidFill>
                  <a:srgbClr val="000000"/>
                </a:solidFill>
                <a:hlinkClick r:id="rId4"/>
              </a:rPr>
              <a:t>clara.nellist@cern.ch</a:t>
            </a:r>
            <a:endParaRPr lang="en-GB" sz="1650" b="1">
              <a:solidFill>
                <a:srgbClr val="000000"/>
              </a:solidFill>
            </a:endParaRPr>
          </a:p>
          <a:p>
            <a:pPr marL="457200" lvl="0" indent="-33401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endParaRPr lang="en-GB" sz="1650" b="1">
              <a:solidFill>
                <a:srgbClr val="000000"/>
              </a:solidFill>
            </a:endParaRPr>
          </a:p>
          <a:p>
            <a:pPr marL="457200" lvl="0" indent="-33401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2"/>
              <a:buChar char="●"/>
            </a:pPr>
            <a:endParaRPr lang="en-GB" sz="1650" b="1">
              <a:solidFill>
                <a:srgbClr val="000000"/>
              </a:solidFill>
            </a:endParaRPr>
          </a:p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endParaRPr lang="en-GB" sz="1650" b="1">
              <a:solidFill>
                <a:srgbClr val="000000"/>
              </a:solidFill>
            </a:endParaRPr>
          </a:p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endParaRPr lang="en-GB" sz="1650" b="1">
              <a:solidFill>
                <a:srgbClr val="000000"/>
              </a:solidFill>
            </a:endParaRPr>
          </a:p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endParaRPr lang="en-GB" sz="1650" b="1">
              <a:solidFill>
                <a:srgbClr val="000000"/>
              </a:solidFill>
            </a:endParaRPr>
          </a:p>
          <a:p>
            <a:pPr indent="-334010">
              <a:lnSpc>
                <a:spcPct val="95000"/>
              </a:lnSpc>
              <a:buClr>
                <a:srgbClr val="000000"/>
              </a:buClr>
              <a:buSzPts val="1662"/>
            </a:pPr>
            <a:endParaRPr lang="en-GB" sz="1650" b="1">
              <a:solidFill>
                <a:srgbClr val="000000"/>
              </a:solidFill>
            </a:endParaRPr>
          </a:p>
          <a:p>
            <a:pPr marL="123190" indent="0">
              <a:lnSpc>
                <a:spcPct val="95000"/>
              </a:lnSpc>
              <a:buClr>
                <a:srgbClr val="000000"/>
              </a:buClr>
              <a:buSzPts val="1662"/>
              <a:buNone/>
            </a:pPr>
            <a:endParaRPr lang="en-GB">
              <a:solidFill>
                <a:srgbClr val="FF0000"/>
              </a:solidFill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898" y="1457721"/>
            <a:ext cx="2273214" cy="2373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end</a:t>
            </a:r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  <p:pic>
        <p:nvPicPr>
          <p:cNvPr id="274" name="Google Shape;274;p37"/>
          <p:cNvPicPr preferRelativeResize="0"/>
          <p:nvPr/>
        </p:nvPicPr>
        <p:blipFill rotWithShape="1">
          <a:blip r:embed="rId3">
            <a:alphaModFix/>
          </a:blip>
          <a:srcRect t="18763" b="18669"/>
          <a:stretch/>
        </p:blipFill>
        <p:spPr>
          <a:xfrm>
            <a:off x="2034737" y="1621200"/>
            <a:ext cx="5074574" cy="317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Backup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  <p:pic>
        <p:nvPicPr>
          <p:cNvPr id="281" name="Google Shape;2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963" y="1312250"/>
            <a:ext cx="3714074" cy="371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Clear rubric for assessment: </a:t>
            </a:r>
            <a:r>
              <a:rPr lang="en-GB" sz="2820" b="1"/>
              <a:t>Poster</a:t>
            </a:r>
            <a:endParaRPr sz="282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</p:txBody>
      </p:sp>
      <p:sp>
        <p:nvSpPr>
          <p:cNvPr id="287" name="Google Shape;28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7291A1-4E2C-A3BE-255B-3162A28A2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227" y="1287704"/>
            <a:ext cx="6039715" cy="384530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Clear rubric for assessment: </a:t>
            </a:r>
            <a:r>
              <a:rPr lang="en-GB" sz="2820" b="1"/>
              <a:t>Animation</a:t>
            </a:r>
            <a:endParaRPr sz="282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20"/>
          </a:p>
        </p:txBody>
      </p:sp>
      <p:sp>
        <p:nvSpPr>
          <p:cNvPr id="294" name="Google Shape;29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pic>
        <p:nvPicPr>
          <p:cNvPr id="2" name="Picture 1" descr="A black and white box with black text&#10;&#10;Description automatically generated">
            <a:extLst>
              <a:ext uri="{FF2B5EF4-FFF2-40B4-BE49-F238E27FC236}">
                <a16:creationId xmlns:a16="http://schemas.microsoft.com/office/drawing/2014/main" id="{77F79682-1490-5170-3EB3-F9E00677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" y="2412833"/>
            <a:ext cx="9135342" cy="889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1c7ed1-8ca4-4d3c-a1fe-d689af6ce493" xsi:nil="true"/>
    <lcf76f155ced4ddcb4097134ff3c332f xmlns="d9e4d06c-ab87-431a-aca7-ea5cbc3ba80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C6FE4B17C3B94692852769BC3B60DA" ma:contentTypeVersion="14" ma:contentTypeDescription="Create a new document." ma:contentTypeScope="" ma:versionID="34c4a5b76612888b2c9888fd54a90328">
  <xsd:schema xmlns:xsd="http://www.w3.org/2001/XMLSchema" xmlns:xs="http://www.w3.org/2001/XMLSchema" xmlns:p="http://schemas.microsoft.com/office/2006/metadata/properties" xmlns:ns2="d9e4d06c-ab87-431a-aca7-ea5cbc3ba80d" xmlns:ns3="af1c7ed1-8ca4-4d3c-a1fe-d689af6ce493" targetNamespace="http://schemas.microsoft.com/office/2006/metadata/properties" ma:root="true" ma:fieldsID="4daab9fac51225a1843a8568b7212ee1" ns2:_="" ns3:_="">
    <xsd:import namespace="d9e4d06c-ab87-431a-aca7-ea5cbc3ba80d"/>
    <xsd:import namespace="af1c7ed1-8ca4-4d3c-a1fe-d689af6ce4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e4d06c-ab87-431a-aca7-ea5cbc3ba8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9b6ca76-abda-4f5c-bf70-6374a71c10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1c7ed1-8ca4-4d3c-a1fe-d689af6ce4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190e29-c6da-4663-9386-64177391fa47}" ma:internalName="TaxCatchAll" ma:showField="CatchAllData" ma:web="af1c7ed1-8ca4-4d3c-a1fe-d689af6ce4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B4D4B-AE04-457C-83FF-FD6B6B6BA9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E0357E-D3F2-41CA-AAEA-22DEF9E2DCB9}">
  <ds:schemaRefs>
    <ds:schemaRef ds:uri="af1c7ed1-8ca4-4d3c-a1fe-d689af6ce493"/>
    <ds:schemaRef ds:uri="d9e4d06c-ab87-431a-aca7-ea5cbc3ba80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27AB8A3-4B7D-4D40-854E-193390A136AA}">
  <ds:schemaRefs>
    <ds:schemaRef ds:uri="af1c7ed1-8ca4-4d3c-a1fe-d689af6ce493"/>
    <ds:schemaRef ds:uri="d9e4d06c-ab87-431a-aca7-ea5cbc3ba8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31</Slides>
  <Notes>31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Paradigm</vt:lpstr>
      <vt:lpstr>Supervisor meeting 1st Year Project   UvA/VU  BSc Physics &amp; Astronomy </vt:lpstr>
      <vt:lpstr>Thank you</vt:lpstr>
      <vt:lpstr>Student contact established?</vt:lpstr>
      <vt:lpstr>Project Goals</vt:lpstr>
      <vt:lpstr>What are students going to do in your Project?</vt:lpstr>
      <vt:lpstr>Background knowledge</vt:lpstr>
      <vt:lpstr>Project Timeline</vt:lpstr>
      <vt:lpstr>Project Timeline in June</vt:lpstr>
      <vt:lpstr>Project Timeline in June</vt:lpstr>
      <vt:lpstr>Project Timeline in June</vt:lpstr>
      <vt:lpstr>Project Timeline in June</vt:lpstr>
      <vt:lpstr>Please note: a few students may have resits</vt:lpstr>
      <vt:lpstr>What students should learn: Assessment </vt:lpstr>
      <vt:lpstr>What students should learn: Assessment </vt:lpstr>
      <vt:lpstr>What students should learn: Assessment </vt:lpstr>
      <vt:lpstr>What students should learn: Assessment </vt:lpstr>
      <vt:lpstr>What students should learn: Assessment </vt:lpstr>
      <vt:lpstr>What students should learn: Assessment </vt:lpstr>
      <vt:lpstr>Clear rubric for assessment: Ownership  </vt:lpstr>
      <vt:lpstr>Training on Teamwork</vt:lpstr>
      <vt:lpstr>Clear rubric for assessment: Teamwork  </vt:lpstr>
      <vt:lpstr>Training on Poster Making &amp; Animations</vt:lpstr>
      <vt:lpstr>Clear rubric for assessment Attitude  </vt:lpstr>
      <vt:lpstr>Intermediate feedback is key!</vt:lpstr>
      <vt:lpstr>Lab access WZI / VU </vt:lpstr>
      <vt:lpstr>Assessment Support Meetings</vt:lpstr>
      <vt:lpstr>How to get in touch with us if you have any Qs</vt:lpstr>
      <vt:lpstr>The end</vt:lpstr>
      <vt:lpstr>Backup</vt:lpstr>
      <vt:lpstr>Clear rubric for assessment: Poster  </vt:lpstr>
      <vt:lpstr>Clear rubric for assessment: Animation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Supervisor meeting 1st Year Project   UvA/VU  BSc Physics &amp; Astronomy </dc:title>
  <cp:revision>2</cp:revision>
  <dcterms:modified xsi:type="dcterms:W3CDTF">2026-05-27T09:29:34Z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0x010100ECC6FE4B17C3B94692852769BC3B60DA</vt:lpwstr>
  </property>
  <property fmtid="{D5CDD505-2E9C-101B-9397-08002B2CF9AE}" pid="3" name="MediaServiceImageTags">
    <vt:lpwstr/>
  </property>
</Properties>
</file>